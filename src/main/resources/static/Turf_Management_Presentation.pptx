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Lst>
  <p:notesMasterIdLst>
    <p:notesMasterId r:id="rId10"/>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notesMaster" Target="notesMasters/notesMaster1.xml"/><Relationship Id="rId11" Type="http://schemas.openxmlformats.org/officeDocument/2006/relationships/presProps" Target="presProps.xml"/><Relationship Id="rId12" Type="http://schemas.openxmlformats.org/officeDocument/2006/relationships/viewProps" Target="viewProps.xml"/><Relationship Id="rId13" Type="http://schemas.openxmlformats.org/officeDocument/2006/relationships/theme" Target="theme/theme1.xml"/><Relationship Id="rId14"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2011680"/>
            <a:ext cx="10698480" cy="3200400"/>
          </a:xfrm>
          <a:prstGeom prst="rect">
            <a:avLst/>
          </a:prstGeom>
          <a:solidFill>
            <a:srgbClr val="1C2541"/>
          </a:solidFill>
          <a:ln w="25400">
            <a:solidFill>
              <a:srgbClr val="00FF88"/>
            </a:solidFill>
            <a:prstDash val="solid"/>
          </a:ln>
        </p:spPr>
      </p:sp>
      <p:sp>
        <p:nvSpPr>
          <p:cNvPr id="3" name="Text 1"/>
          <p:cNvSpPr/>
          <p:nvPr/>
        </p:nvSpPr>
        <p:spPr>
          <a:xfrm>
            <a:off x="1097280" y="2286000"/>
            <a:ext cx="10058400" cy="914400"/>
          </a:xfrm>
          <a:prstGeom prst="rect">
            <a:avLst/>
          </a:prstGeom>
          <a:noFill/>
          <a:ln/>
        </p:spPr>
        <p:txBody>
          <a:bodyPr wrap="square" rtlCol="0" anchor="ctr"/>
          <a:lstStyle/>
          <a:p>
            <a:pPr indent="0" marL="0">
              <a:buNone/>
            </a:pPr>
            <a:r>
              <a:rPr lang="en-US" sz="5400" b="1" spc="200" kern="0" dirty="0">
                <a:solidFill>
                  <a:srgbClr val="00FF88"/>
                </a:solidFill>
                <a:latin typeface="Arial" pitchFamily="34" charset="0"/>
                <a:ea typeface="Arial" pitchFamily="34" charset="-122"/>
                <a:cs typeface="Arial" pitchFamily="34" charset="-120"/>
              </a:rPr>
              <a:t>TURF MATE</a:t>
            </a:r>
            <a:endParaRPr lang="en-US" sz="5400" dirty="0"/>
          </a:p>
        </p:txBody>
      </p:sp>
      <p:sp>
        <p:nvSpPr>
          <p:cNvPr id="4" name="Text 2"/>
          <p:cNvSpPr/>
          <p:nvPr/>
        </p:nvSpPr>
        <p:spPr>
          <a:xfrm>
            <a:off x="1097280" y="3291840"/>
            <a:ext cx="10058400" cy="548640"/>
          </a:xfrm>
          <a:prstGeom prst="rect">
            <a:avLst/>
          </a:prstGeom>
          <a:noFill/>
          <a:ln/>
        </p:spPr>
        <p:txBody>
          <a:bodyPr wrap="square" rtlCol="0" anchor="ctr"/>
          <a:lstStyle/>
          <a:p>
            <a:pPr indent="0" marL="0">
              <a:buNone/>
            </a:pPr>
            <a:r>
              <a:rPr lang="en-US" sz="2200" b="1" dirty="0">
                <a:solidFill>
                  <a:srgbClr val="0096FF"/>
                </a:solidFill>
                <a:latin typeface="Arial" pitchFamily="34" charset="0"/>
                <a:ea typeface="Arial" pitchFamily="34" charset="-122"/>
                <a:cs typeface="Arial" pitchFamily="34" charset="-120"/>
              </a:rPr>
              <a:t>Next-Gen Turf Booking &amp; Secure Verification System</a:t>
            </a:r>
            <a:endParaRPr lang="en-US" sz="2200" dirty="0"/>
          </a:p>
        </p:txBody>
      </p:sp>
      <p:sp>
        <p:nvSpPr>
          <p:cNvPr id="5" name="Text 3"/>
          <p:cNvSpPr/>
          <p:nvPr/>
        </p:nvSpPr>
        <p:spPr>
          <a:xfrm>
            <a:off x="1097280" y="3931920"/>
            <a:ext cx="10058400" cy="914400"/>
          </a:xfrm>
          <a:prstGeom prst="rect">
            <a:avLst/>
          </a:prstGeom>
          <a:noFill/>
          <a:ln/>
        </p:spPr>
        <p:txBody>
          <a:bodyPr wrap="square" rtlCol="0" anchor="ctr"/>
          <a:lstStyle/>
          <a:p>
            <a:pPr indent="0" marL="0">
              <a:buNone/>
            </a:pPr>
            <a:r>
              <a:rPr lang="en-US" sz="1400" dirty="0">
                <a:solidFill>
                  <a:srgbClr val="F0F4F8"/>
                </a:solidFill>
                <a:latin typeface="Arial" pitchFamily="34" charset="0"/>
                <a:ea typeface="Arial" pitchFamily="34" charset="-122"/>
                <a:cs typeface="Arial" pitchFamily="34" charset="-120"/>
              </a:rPr>
              <a:t>A modern web application featuring OTP-based email verification, generic email domain support, interactive slot management, and secure payments.</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457200"/>
            <a:ext cx="10515600" cy="731520"/>
          </a:xfrm>
          <a:prstGeom prst="rect">
            <a:avLst/>
          </a:prstGeom>
          <a:noFill/>
          <a:ln/>
        </p:spPr>
        <p:txBody>
          <a:bodyPr wrap="square" rtlCol="0" anchor="ctr"/>
          <a:lstStyle/>
          <a:p>
            <a:pPr indent="0" marL="0">
              <a:buNone/>
            </a:pPr>
            <a:r>
              <a:rPr lang="en-US" sz="3200" b="1" dirty="0">
                <a:solidFill>
                  <a:srgbClr val="00FF88"/>
                </a:solidFill>
                <a:latin typeface="Arial" pitchFamily="34" charset="0"/>
                <a:ea typeface="Arial" pitchFamily="34" charset="-122"/>
                <a:cs typeface="Arial" pitchFamily="34" charset="-120"/>
              </a:rPr>
              <a:t>Project Necessity</a:t>
            </a:r>
            <a:endParaRPr lang="en-US" sz="3200" dirty="0"/>
          </a:p>
        </p:txBody>
      </p:sp>
      <p:sp>
        <p:nvSpPr>
          <p:cNvPr id="3" name="Shape 1"/>
          <p:cNvSpPr/>
          <p:nvPr/>
        </p:nvSpPr>
        <p:spPr>
          <a:xfrm>
            <a:off x="731520" y="1188720"/>
            <a:ext cx="3657600" cy="36576"/>
          </a:xfrm>
          <a:prstGeom prst="rect">
            <a:avLst/>
          </a:prstGeom>
          <a:solidFill>
            <a:srgbClr val="0096FF"/>
          </a:solidFill>
          <a:ln/>
        </p:spPr>
      </p:sp>
      <p:sp>
        <p:nvSpPr>
          <p:cNvPr id="4" name="Shape 2"/>
          <p:cNvSpPr/>
          <p:nvPr/>
        </p:nvSpPr>
        <p:spPr>
          <a:xfrm>
            <a:off x="731520" y="1645920"/>
            <a:ext cx="5029200" cy="4114800"/>
          </a:xfrm>
          <a:prstGeom prst="rect">
            <a:avLst/>
          </a:prstGeom>
          <a:solidFill>
            <a:srgbClr val="1C2541"/>
          </a:solidFill>
          <a:ln w="12700">
            <a:solidFill>
              <a:srgbClr val="FF6B6B"/>
            </a:solidFill>
            <a:prstDash val="solid"/>
          </a:ln>
        </p:spPr>
      </p:sp>
      <p:sp>
        <p:nvSpPr>
          <p:cNvPr id="5" name="Text 3"/>
          <p:cNvSpPr/>
          <p:nvPr/>
        </p:nvSpPr>
        <p:spPr>
          <a:xfrm>
            <a:off x="1097280" y="1828800"/>
            <a:ext cx="4297680" cy="365760"/>
          </a:xfrm>
          <a:prstGeom prst="rect">
            <a:avLst/>
          </a:prstGeom>
          <a:noFill/>
          <a:ln/>
        </p:spPr>
        <p:txBody>
          <a:bodyPr wrap="square" rtlCol="0" anchor="ctr"/>
          <a:lstStyle/>
          <a:p>
            <a:pPr indent="0" marL="0">
              <a:buNone/>
            </a:pPr>
            <a:r>
              <a:rPr lang="en-US" sz="1800" b="1" dirty="0">
                <a:solidFill>
                  <a:srgbClr val="FF6B6B"/>
                </a:solidFill>
                <a:latin typeface="Arial" pitchFamily="34" charset="0"/>
                <a:ea typeface="Arial" pitchFamily="34" charset="-122"/>
                <a:cs typeface="Arial" pitchFamily="34" charset="-120"/>
              </a:rPr>
              <a:t>THE PROBLEM</a:t>
            </a:r>
            <a:endParaRPr lang="en-US" sz="1800" dirty="0"/>
          </a:p>
        </p:txBody>
      </p:sp>
      <p:sp>
        <p:nvSpPr>
          <p:cNvPr id="6" name="Text 4"/>
          <p:cNvSpPr/>
          <p:nvPr/>
        </p:nvSpPr>
        <p:spPr>
          <a:xfrm>
            <a:off x="1097280" y="2377440"/>
            <a:ext cx="4297680" cy="3200400"/>
          </a:xfrm>
          <a:prstGeom prst="rect">
            <a:avLst/>
          </a:prstGeom>
          <a:noFill/>
          <a:ln/>
        </p:spPr>
        <p:txBody>
          <a:bodyPr wrap="square" rtlCol="0" anchor="ctr"/>
          <a:lstStyle/>
          <a:p>
            <a:pPr indent="0" marL="0">
              <a:buNone/>
            </a:pPr>
            <a:r>
              <a:rPr lang="en-US" sz="1300" b="1" dirty="0">
                <a:solidFill>
                  <a:srgbClr val="F0F4F8"/>
                </a:solidFill>
                <a:latin typeface="Arial" pitchFamily="34" charset="0"/>
                <a:ea typeface="Arial" pitchFamily="34" charset="-122"/>
                <a:cs typeface="Arial" pitchFamily="34" charset="-120"/>
              </a:rPr>
              <a:t>• Manual Booking Overhead: </a:t>
            </a:r>
            <a:pPr indent="0" marL="0">
              <a:buNone/>
            </a:pPr>
            <a:r>
              <a:rPr lang="en-US" sz="1300" dirty="0">
                <a:solidFill>
                  <a:srgbClr val="A0AABF"/>
                </a:solidFill>
                <a:latin typeface="Arial" pitchFamily="34" charset="0"/>
                <a:ea typeface="Arial" pitchFamily="34" charset="-122"/>
                <a:cs typeface="Arial" pitchFamily="34" charset="-120"/>
              </a:rPr>
              <a:t>Ground bookings are often handled over phone calls or WhatsApp, leading to inefficiencies.
</a:t>
            </a:r>
            <a:pPr indent="0" marL="0">
              <a:buNone/>
            </a:pPr>
            <a:r>
              <a:rPr lang="en-US" sz="1300" b="1" dirty="0">
                <a:solidFill>
                  <a:srgbClr val="F0F4F8"/>
                </a:solidFill>
                <a:latin typeface="Arial" pitchFamily="34" charset="0"/>
                <a:ea typeface="Arial" pitchFamily="34" charset="-122"/>
                <a:cs typeface="Arial" pitchFamily="34" charset="-120"/>
              </a:rPr>
              <a:t>• Double-Booking Conflicts: </a:t>
            </a:r>
            <a:pPr indent="0" marL="0">
              <a:buNone/>
            </a:pPr>
            <a:r>
              <a:rPr lang="en-US" sz="1300" dirty="0">
                <a:solidFill>
                  <a:srgbClr val="A0AABF"/>
                </a:solidFill>
                <a:latin typeface="Arial" pitchFamily="34" charset="0"/>
                <a:ea typeface="Arial" pitchFamily="34" charset="-122"/>
                <a:cs typeface="Arial" pitchFamily="34" charset="-120"/>
              </a:rPr>
              <a:t>Lack of real-time slot synchronization results in scheduling overlaps.
</a:t>
            </a:r>
            <a:pPr indent="0" marL="0">
              <a:buNone/>
            </a:pPr>
            <a:r>
              <a:rPr lang="en-US" sz="1300" b="1" dirty="0">
                <a:solidFill>
                  <a:srgbClr val="F0F4F8"/>
                </a:solidFill>
                <a:latin typeface="Arial" pitchFamily="34" charset="0"/>
                <a:ea typeface="Arial" pitchFamily="34" charset="-122"/>
                <a:cs typeface="Arial" pitchFamily="34" charset="-120"/>
              </a:rPr>
              <a:t>• Unverified Registrations: </a:t>
            </a:r>
            <a:pPr indent="0" marL="0">
              <a:buNone/>
            </a:pPr>
            <a:r>
              <a:rPr lang="en-US" sz="1300" dirty="0">
                <a:solidFill>
                  <a:srgbClr val="A0AABF"/>
                </a:solidFill>
                <a:latin typeface="Arial" pitchFamily="34" charset="0"/>
                <a:ea typeface="Arial" pitchFamily="34" charset="-122"/>
                <a:cs typeface="Arial" pitchFamily="34" charset="-120"/>
              </a:rPr>
              <a:t>Spam accounts and fake emails abuse systems, exhausting slot reserves.</a:t>
            </a:r>
            <a:endParaRPr lang="en-US" sz="1300" dirty="0"/>
          </a:p>
        </p:txBody>
      </p:sp>
      <p:sp>
        <p:nvSpPr>
          <p:cNvPr id="7" name="Shape 5"/>
          <p:cNvSpPr/>
          <p:nvPr/>
        </p:nvSpPr>
        <p:spPr>
          <a:xfrm>
            <a:off x="6400800" y="1645920"/>
            <a:ext cx="5029200" cy="4114800"/>
          </a:xfrm>
          <a:prstGeom prst="rect">
            <a:avLst/>
          </a:prstGeom>
          <a:solidFill>
            <a:srgbClr val="1C2541"/>
          </a:solidFill>
          <a:ln w="12700">
            <a:solidFill>
              <a:srgbClr val="00FF88"/>
            </a:solidFill>
            <a:prstDash val="solid"/>
          </a:ln>
        </p:spPr>
      </p:sp>
      <p:sp>
        <p:nvSpPr>
          <p:cNvPr id="8" name="Text 6"/>
          <p:cNvSpPr/>
          <p:nvPr/>
        </p:nvSpPr>
        <p:spPr>
          <a:xfrm>
            <a:off x="6766560" y="1828800"/>
            <a:ext cx="4297680" cy="365760"/>
          </a:xfrm>
          <a:prstGeom prst="rect">
            <a:avLst/>
          </a:prstGeom>
          <a:noFill/>
          <a:ln/>
        </p:spPr>
        <p:txBody>
          <a:bodyPr wrap="square" rtlCol="0" anchor="ctr"/>
          <a:lstStyle/>
          <a:p>
            <a:pPr indent="0" marL="0">
              <a:buNone/>
            </a:pPr>
            <a:r>
              <a:rPr lang="en-US" sz="1800" b="1" dirty="0">
                <a:solidFill>
                  <a:srgbClr val="00FF88"/>
                </a:solidFill>
                <a:latin typeface="Arial" pitchFamily="34" charset="0"/>
                <a:ea typeface="Arial" pitchFamily="34" charset="-122"/>
                <a:cs typeface="Arial" pitchFamily="34" charset="-120"/>
              </a:rPr>
              <a:t>THE SOLUTION</a:t>
            </a:r>
            <a:endParaRPr lang="en-US" sz="1800" dirty="0"/>
          </a:p>
        </p:txBody>
      </p:sp>
      <p:sp>
        <p:nvSpPr>
          <p:cNvPr id="9" name="Text 7"/>
          <p:cNvSpPr/>
          <p:nvPr/>
        </p:nvSpPr>
        <p:spPr>
          <a:xfrm>
            <a:off x="6766560" y="2377440"/>
            <a:ext cx="4297680" cy="3200400"/>
          </a:xfrm>
          <a:prstGeom prst="rect">
            <a:avLst/>
          </a:prstGeom>
          <a:noFill/>
          <a:ln/>
        </p:spPr>
        <p:txBody>
          <a:bodyPr wrap="square" rtlCol="0" anchor="ctr"/>
          <a:lstStyle/>
          <a:p>
            <a:pPr indent="0" marL="0">
              <a:buNone/>
            </a:pPr>
            <a:r>
              <a:rPr lang="en-US" sz="1300" b="1" dirty="0">
                <a:solidFill>
                  <a:srgbClr val="F0F4F8"/>
                </a:solidFill>
                <a:latin typeface="Arial" pitchFamily="34" charset="0"/>
                <a:ea typeface="Arial" pitchFamily="34" charset="-122"/>
                <a:cs typeface="Arial" pitchFamily="34" charset="-120"/>
              </a:rPr>
              <a:t>• Automated Scheduling: </a:t>
            </a:r>
            <a:pPr indent="0" marL="0">
              <a:buNone/>
            </a:pPr>
            <a:r>
              <a:rPr lang="en-US" sz="1300" dirty="0">
                <a:solidFill>
                  <a:srgbClr val="A0AABF"/>
                </a:solidFill>
                <a:latin typeface="Arial" pitchFamily="34" charset="0"/>
                <a:ea typeface="Arial" pitchFamily="34" charset="-122"/>
                <a:cs typeface="Arial" pitchFamily="34" charset="-120"/>
              </a:rPr>
              <a:t>Dynamic dashboard displaying real-time availability.
</a:t>
            </a:r>
            <a:pPr indent="0" marL="0">
              <a:buNone/>
            </a:pPr>
            <a:r>
              <a:rPr lang="en-US" sz="1300" b="1" dirty="0">
                <a:solidFill>
                  <a:srgbClr val="F0F4F8"/>
                </a:solidFill>
                <a:latin typeface="Arial" pitchFamily="34" charset="0"/>
                <a:ea typeface="Arial" pitchFamily="34" charset="-122"/>
                <a:cs typeface="Arial" pitchFamily="34" charset="-120"/>
              </a:rPr>
              <a:t>• Mandatory Verification: </a:t>
            </a:r>
            <a:pPr indent="0" marL="0">
              <a:buNone/>
            </a:pPr>
            <a:r>
              <a:rPr lang="en-US" sz="1300" dirty="0">
                <a:solidFill>
                  <a:srgbClr val="A0AABF"/>
                </a:solidFill>
                <a:latin typeface="Arial" pitchFamily="34" charset="0"/>
                <a:ea typeface="Arial" pitchFamily="34" charset="-122"/>
                <a:cs typeface="Arial" pitchFamily="34" charset="-120"/>
              </a:rPr>
              <a:t>Registration triggers a 6-digit OTP verification email, locking out fake signups.
</a:t>
            </a:r>
            <a:pPr indent="0" marL="0">
              <a:buNone/>
            </a:pPr>
            <a:r>
              <a:rPr lang="en-US" sz="1300" b="1" dirty="0">
                <a:solidFill>
                  <a:srgbClr val="F0F4F8"/>
                </a:solidFill>
                <a:latin typeface="Arial" pitchFamily="34" charset="0"/>
                <a:ea typeface="Arial" pitchFamily="34" charset="-122"/>
                <a:cs typeface="Arial" pitchFamily="34" charset="-120"/>
              </a:rPr>
              <a:t>• Seamless Checkout Flow: </a:t>
            </a:r>
            <a:pPr indent="0" marL="0">
              <a:buNone/>
            </a:pPr>
            <a:r>
              <a:rPr lang="en-US" sz="1300" dirty="0">
                <a:solidFill>
                  <a:srgbClr val="A0AABF"/>
                </a:solidFill>
                <a:latin typeface="Arial" pitchFamily="34" charset="0"/>
                <a:ea typeface="Arial" pitchFamily="34" charset="-122"/>
                <a:cs typeface="Arial" pitchFamily="34" charset="-120"/>
              </a:rPr>
              <a:t>Integrated reservation locking alongside mock payment confirmation.</a:t>
            </a:r>
            <a:endParaRPr lang="en-US" sz="13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457200"/>
            <a:ext cx="10515600" cy="731520"/>
          </a:xfrm>
          <a:prstGeom prst="rect">
            <a:avLst/>
          </a:prstGeom>
          <a:noFill/>
          <a:ln/>
        </p:spPr>
        <p:txBody>
          <a:bodyPr wrap="square" rtlCol="0" anchor="ctr"/>
          <a:lstStyle/>
          <a:p>
            <a:pPr indent="0" marL="0">
              <a:buNone/>
            </a:pPr>
            <a:r>
              <a:rPr lang="en-US" sz="3200" b="1" dirty="0">
                <a:solidFill>
                  <a:srgbClr val="00FF88"/>
                </a:solidFill>
                <a:latin typeface="Arial" pitchFamily="34" charset="0"/>
                <a:ea typeface="Arial" pitchFamily="34" charset="-122"/>
                <a:cs typeface="Arial" pitchFamily="34" charset="-120"/>
              </a:rPr>
              <a:t>System Constraints</a:t>
            </a:r>
            <a:endParaRPr lang="en-US" sz="3200" dirty="0"/>
          </a:p>
        </p:txBody>
      </p:sp>
      <p:sp>
        <p:nvSpPr>
          <p:cNvPr id="3" name="Shape 1"/>
          <p:cNvSpPr/>
          <p:nvPr/>
        </p:nvSpPr>
        <p:spPr>
          <a:xfrm>
            <a:off x="731520" y="1188720"/>
            <a:ext cx="3657600" cy="36576"/>
          </a:xfrm>
          <a:prstGeom prst="rect">
            <a:avLst/>
          </a:prstGeom>
          <a:solidFill>
            <a:srgbClr val="0096FF"/>
          </a:solidFill>
          <a:ln/>
        </p:spPr>
      </p:sp>
      <p:sp>
        <p:nvSpPr>
          <p:cNvPr id="4" name="Shape 2"/>
          <p:cNvSpPr/>
          <p:nvPr/>
        </p:nvSpPr>
        <p:spPr>
          <a:xfrm>
            <a:off x="731520" y="1828800"/>
            <a:ext cx="3383280" cy="3657600"/>
          </a:xfrm>
          <a:prstGeom prst="rect">
            <a:avLst/>
          </a:prstGeom>
          <a:solidFill>
            <a:srgbClr val="1C2541"/>
          </a:solidFill>
          <a:ln w="19050">
            <a:solidFill>
              <a:srgbClr val="0096FF"/>
            </a:solidFill>
            <a:prstDash val="solid"/>
          </a:ln>
        </p:spPr>
      </p:sp>
      <p:sp>
        <p:nvSpPr>
          <p:cNvPr id="5" name="Text 3"/>
          <p:cNvSpPr/>
          <p:nvPr/>
        </p:nvSpPr>
        <p:spPr>
          <a:xfrm>
            <a:off x="1005840" y="2103120"/>
            <a:ext cx="2834640" cy="457200"/>
          </a:xfrm>
          <a:prstGeom prst="rect">
            <a:avLst/>
          </a:prstGeom>
          <a:noFill/>
          <a:ln/>
        </p:spPr>
        <p:txBody>
          <a:bodyPr wrap="square" rtlCol="0" anchor="ctr"/>
          <a:lstStyle/>
          <a:p>
            <a:pPr indent="0" marL="0">
              <a:buNone/>
            </a:pPr>
            <a:r>
              <a:rPr lang="en-US" sz="2800" b="1" dirty="0">
                <a:solidFill>
                  <a:srgbClr val="0096FF"/>
                </a:solidFill>
                <a:latin typeface="Arial" pitchFamily="34" charset="0"/>
                <a:ea typeface="Arial" pitchFamily="34" charset="-122"/>
                <a:cs typeface="Arial" pitchFamily="34" charset="-120"/>
              </a:rPr>
              <a:t>01</a:t>
            </a:r>
            <a:endParaRPr lang="en-US" sz="2800" dirty="0"/>
          </a:p>
        </p:txBody>
      </p:sp>
      <p:sp>
        <p:nvSpPr>
          <p:cNvPr id="6" name="Text 4"/>
          <p:cNvSpPr/>
          <p:nvPr/>
        </p:nvSpPr>
        <p:spPr>
          <a:xfrm>
            <a:off x="1005840" y="2651760"/>
            <a:ext cx="2834640" cy="365760"/>
          </a:xfrm>
          <a:prstGeom prst="rect">
            <a:avLst/>
          </a:prstGeom>
          <a:noFill/>
          <a:ln/>
        </p:spPr>
        <p:txBody>
          <a:bodyPr wrap="square" rtlCol="0" anchor="ctr"/>
          <a:lstStyle/>
          <a:p>
            <a:pPr indent="0" marL="0">
              <a:buNone/>
            </a:pPr>
            <a:r>
              <a:rPr lang="en-US" sz="1600" b="1" dirty="0">
                <a:solidFill>
                  <a:srgbClr val="F0F4F8"/>
                </a:solidFill>
                <a:latin typeface="Arial" pitchFamily="34" charset="0"/>
                <a:ea typeface="Arial" pitchFamily="34" charset="-122"/>
                <a:cs typeface="Arial" pitchFamily="34" charset="-120"/>
              </a:rPr>
              <a:t>Database Consistency</a:t>
            </a:r>
            <a:endParaRPr lang="en-US" sz="1600" dirty="0"/>
          </a:p>
        </p:txBody>
      </p:sp>
      <p:sp>
        <p:nvSpPr>
          <p:cNvPr id="7" name="Text 5"/>
          <p:cNvSpPr/>
          <p:nvPr/>
        </p:nvSpPr>
        <p:spPr>
          <a:xfrm>
            <a:off x="1005840" y="3108960"/>
            <a:ext cx="2834640" cy="2103120"/>
          </a:xfrm>
          <a:prstGeom prst="rect">
            <a:avLst/>
          </a:prstGeom>
          <a:noFill/>
          <a:ln/>
        </p:spPr>
        <p:txBody>
          <a:bodyPr wrap="square" rtlCol="0" anchor="ctr"/>
          <a:lstStyle/>
          <a:p>
            <a:pPr indent="0" marL="0">
              <a:buNone/>
            </a:pPr>
            <a:r>
              <a:rPr lang="en-US" sz="1200" dirty="0">
                <a:solidFill>
                  <a:srgbClr val="A0AABF"/>
                </a:solidFill>
                <a:latin typeface="Arial" pitchFamily="34" charset="0"/>
                <a:ea typeface="Arial" pitchFamily="34" charset="-122"/>
                <a:cs typeface="Arial" pitchFamily="34" charset="-120"/>
              </a:rPr>
              <a:t>Ensuring transaction isolation so that two users booking the exact same time slot simultaneously cannot double-book. Solved using atomic updates in MongoDB.</a:t>
            </a:r>
            <a:endParaRPr lang="en-US" sz="1200" dirty="0"/>
          </a:p>
        </p:txBody>
      </p:sp>
      <p:sp>
        <p:nvSpPr>
          <p:cNvPr id="8" name="Shape 6"/>
          <p:cNvSpPr/>
          <p:nvPr/>
        </p:nvSpPr>
        <p:spPr>
          <a:xfrm>
            <a:off x="4389120" y="1828800"/>
            <a:ext cx="3383280" cy="3657600"/>
          </a:xfrm>
          <a:prstGeom prst="rect">
            <a:avLst/>
          </a:prstGeom>
          <a:solidFill>
            <a:srgbClr val="1C2541"/>
          </a:solidFill>
          <a:ln w="19050">
            <a:solidFill>
              <a:srgbClr val="DBF429"/>
            </a:solidFill>
            <a:prstDash val="solid"/>
          </a:ln>
        </p:spPr>
      </p:sp>
      <p:sp>
        <p:nvSpPr>
          <p:cNvPr id="9" name="Text 7"/>
          <p:cNvSpPr/>
          <p:nvPr/>
        </p:nvSpPr>
        <p:spPr>
          <a:xfrm>
            <a:off x="4663440" y="2103120"/>
            <a:ext cx="2834640" cy="457200"/>
          </a:xfrm>
          <a:prstGeom prst="rect">
            <a:avLst/>
          </a:prstGeom>
          <a:noFill/>
          <a:ln/>
        </p:spPr>
        <p:txBody>
          <a:bodyPr wrap="square" rtlCol="0" anchor="ctr"/>
          <a:lstStyle/>
          <a:p>
            <a:pPr indent="0" marL="0">
              <a:buNone/>
            </a:pPr>
            <a:r>
              <a:rPr lang="en-US" sz="2800" b="1" dirty="0">
                <a:solidFill>
                  <a:srgbClr val="DBF429"/>
                </a:solidFill>
                <a:latin typeface="Arial" pitchFamily="34" charset="0"/>
                <a:ea typeface="Arial" pitchFamily="34" charset="-122"/>
                <a:cs typeface="Arial" pitchFamily="34" charset="-120"/>
              </a:rPr>
              <a:t>02</a:t>
            </a:r>
            <a:endParaRPr lang="en-US" sz="2800" dirty="0"/>
          </a:p>
        </p:txBody>
      </p:sp>
      <p:sp>
        <p:nvSpPr>
          <p:cNvPr id="10" name="Text 8"/>
          <p:cNvSpPr/>
          <p:nvPr/>
        </p:nvSpPr>
        <p:spPr>
          <a:xfrm>
            <a:off x="4663440" y="2651760"/>
            <a:ext cx="2834640" cy="365760"/>
          </a:xfrm>
          <a:prstGeom prst="rect">
            <a:avLst/>
          </a:prstGeom>
          <a:noFill/>
          <a:ln/>
        </p:spPr>
        <p:txBody>
          <a:bodyPr wrap="square" rtlCol="0" anchor="ctr"/>
          <a:lstStyle/>
          <a:p>
            <a:pPr indent="0" marL="0">
              <a:buNone/>
            </a:pPr>
            <a:r>
              <a:rPr lang="en-US" sz="1600" b="1" dirty="0">
                <a:solidFill>
                  <a:srgbClr val="F0F4F8"/>
                </a:solidFill>
                <a:latin typeface="Arial" pitchFamily="34" charset="0"/>
                <a:ea typeface="Arial" pitchFamily="34" charset="-122"/>
                <a:cs typeface="Arial" pitchFamily="34" charset="-120"/>
              </a:rPr>
              <a:t>Network Security</a:t>
            </a:r>
            <a:endParaRPr lang="en-US" sz="1600" dirty="0"/>
          </a:p>
        </p:txBody>
      </p:sp>
      <p:sp>
        <p:nvSpPr>
          <p:cNvPr id="11" name="Text 9"/>
          <p:cNvSpPr/>
          <p:nvPr/>
        </p:nvSpPr>
        <p:spPr>
          <a:xfrm>
            <a:off x="4663440" y="3108960"/>
            <a:ext cx="2834640" cy="2103120"/>
          </a:xfrm>
          <a:prstGeom prst="rect">
            <a:avLst/>
          </a:prstGeom>
          <a:noFill/>
          <a:ln/>
        </p:spPr>
        <p:txBody>
          <a:bodyPr wrap="square" rtlCol="0" anchor="ctr"/>
          <a:lstStyle/>
          <a:p>
            <a:pPr indent="0" marL="0">
              <a:buNone/>
            </a:pPr>
            <a:r>
              <a:rPr lang="en-US" sz="1200" dirty="0">
                <a:solidFill>
                  <a:srgbClr val="A0AABF"/>
                </a:solidFill>
                <a:latin typeface="Arial" pitchFamily="34" charset="0"/>
                <a:ea typeface="Arial" pitchFamily="34" charset="-122"/>
                <a:cs typeface="Arial" pitchFamily="34" charset="-120"/>
              </a:rPr>
              <a:t>Mandatory secure verification before login. If SMTP email delivery fails, the app uses a safe local testing fallback rather than completely locking users out.</a:t>
            </a:r>
            <a:endParaRPr lang="en-US" sz="1200" dirty="0"/>
          </a:p>
        </p:txBody>
      </p:sp>
      <p:sp>
        <p:nvSpPr>
          <p:cNvPr id="12" name="Shape 10"/>
          <p:cNvSpPr/>
          <p:nvPr/>
        </p:nvSpPr>
        <p:spPr>
          <a:xfrm>
            <a:off x="8046720" y="1828800"/>
            <a:ext cx="3383280" cy="3657600"/>
          </a:xfrm>
          <a:prstGeom prst="rect">
            <a:avLst/>
          </a:prstGeom>
          <a:solidFill>
            <a:srgbClr val="1C2541"/>
          </a:solidFill>
          <a:ln w="19050">
            <a:solidFill>
              <a:srgbClr val="00FF88"/>
            </a:solidFill>
            <a:prstDash val="solid"/>
          </a:ln>
        </p:spPr>
      </p:sp>
      <p:sp>
        <p:nvSpPr>
          <p:cNvPr id="13" name="Text 11"/>
          <p:cNvSpPr/>
          <p:nvPr/>
        </p:nvSpPr>
        <p:spPr>
          <a:xfrm>
            <a:off x="8321040" y="2103120"/>
            <a:ext cx="2834640" cy="457200"/>
          </a:xfrm>
          <a:prstGeom prst="rect">
            <a:avLst/>
          </a:prstGeom>
          <a:noFill/>
          <a:ln/>
        </p:spPr>
        <p:txBody>
          <a:bodyPr wrap="square" rtlCol="0" anchor="ctr"/>
          <a:lstStyle/>
          <a:p>
            <a:pPr indent="0" marL="0">
              <a:buNone/>
            </a:pPr>
            <a:r>
              <a:rPr lang="en-US" sz="2800" b="1" dirty="0">
                <a:solidFill>
                  <a:srgbClr val="00FF88"/>
                </a:solidFill>
                <a:latin typeface="Arial" pitchFamily="34" charset="0"/>
                <a:ea typeface="Arial" pitchFamily="34" charset="-122"/>
                <a:cs typeface="Arial" pitchFamily="34" charset="-120"/>
              </a:rPr>
              <a:t>03</a:t>
            </a:r>
            <a:endParaRPr lang="en-US" sz="2800" dirty="0"/>
          </a:p>
        </p:txBody>
      </p:sp>
      <p:sp>
        <p:nvSpPr>
          <p:cNvPr id="14" name="Text 12"/>
          <p:cNvSpPr/>
          <p:nvPr/>
        </p:nvSpPr>
        <p:spPr>
          <a:xfrm>
            <a:off x="8321040" y="2651760"/>
            <a:ext cx="2834640" cy="365760"/>
          </a:xfrm>
          <a:prstGeom prst="rect">
            <a:avLst/>
          </a:prstGeom>
          <a:noFill/>
          <a:ln/>
        </p:spPr>
        <p:txBody>
          <a:bodyPr wrap="square" rtlCol="0" anchor="ctr"/>
          <a:lstStyle/>
          <a:p>
            <a:pPr indent="0" marL="0">
              <a:buNone/>
            </a:pPr>
            <a:r>
              <a:rPr lang="en-US" sz="1600" b="1" dirty="0">
                <a:solidFill>
                  <a:srgbClr val="F0F4F8"/>
                </a:solidFill>
                <a:latin typeface="Arial" pitchFamily="34" charset="0"/>
                <a:ea typeface="Arial" pitchFamily="34" charset="-122"/>
                <a:cs typeface="Arial" pitchFamily="34" charset="-120"/>
              </a:rPr>
              <a:t>Generic Formats</a:t>
            </a:r>
            <a:endParaRPr lang="en-US" sz="1600" dirty="0"/>
          </a:p>
        </p:txBody>
      </p:sp>
      <p:sp>
        <p:nvSpPr>
          <p:cNvPr id="15" name="Text 13"/>
          <p:cNvSpPr/>
          <p:nvPr/>
        </p:nvSpPr>
        <p:spPr>
          <a:xfrm>
            <a:off x="8321040" y="3108960"/>
            <a:ext cx="2834640" cy="2103120"/>
          </a:xfrm>
          <a:prstGeom prst="rect">
            <a:avLst/>
          </a:prstGeom>
          <a:noFill/>
          <a:ln/>
        </p:spPr>
        <p:txBody>
          <a:bodyPr wrap="square" rtlCol="0" anchor="ctr"/>
          <a:lstStyle/>
          <a:p>
            <a:pPr indent="0" marL="0">
              <a:buNone/>
            </a:pPr>
            <a:r>
              <a:rPr lang="en-US" sz="1200" dirty="0">
                <a:solidFill>
                  <a:srgbClr val="A0AABF"/>
                </a:solidFill>
                <a:latin typeface="Arial" pitchFamily="34" charset="0"/>
                <a:ea typeface="Arial" pitchFamily="34" charset="-122"/>
                <a:cs typeface="Arial" pitchFamily="34" charset="-120"/>
              </a:rPr>
              <a:t>No locked domains. Validation accepts any valid email (Gmail, Outlook, Yahoo, or custom corporate domains) using a robust regex validation engine.</a:t>
            </a:r>
            <a:endParaRPr lang="en-US" sz="12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457200"/>
            <a:ext cx="10515600" cy="731520"/>
          </a:xfrm>
          <a:prstGeom prst="rect">
            <a:avLst/>
          </a:prstGeom>
          <a:noFill/>
          <a:ln/>
        </p:spPr>
        <p:txBody>
          <a:bodyPr wrap="square" rtlCol="0" anchor="ctr"/>
          <a:lstStyle/>
          <a:p>
            <a:pPr indent="0" marL="0">
              <a:buNone/>
            </a:pPr>
            <a:r>
              <a:rPr lang="en-US" sz="3200" b="1" dirty="0">
                <a:solidFill>
                  <a:srgbClr val="00FF88"/>
                </a:solidFill>
                <a:latin typeface="Arial" pitchFamily="34" charset="0"/>
                <a:ea typeface="Arial" pitchFamily="34" charset="-122"/>
                <a:cs typeface="Arial" pitchFamily="34" charset="-120"/>
              </a:rPr>
              <a:t>Tools &amp; Technologies</a:t>
            </a:r>
            <a:endParaRPr lang="en-US" sz="3200" dirty="0"/>
          </a:p>
        </p:txBody>
      </p:sp>
      <p:sp>
        <p:nvSpPr>
          <p:cNvPr id="3" name="Shape 1"/>
          <p:cNvSpPr/>
          <p:nvPr/>
        </p:nvSpPr>
        <p:spPr>
          <a:xfrm>
            <a:off x="731520" y="1188720"/>
            <a:ext cx="3657600" cy="36576"/>
          </a:xfrm>
          <a:prstGeom prst="rect">
            <a:avLst/>
          </a:prstGeom>
          <a:solidFill>
            <a:srgbClr val="0096FF"/>
          </a:solidFill>
          <a:ln/>
        </p:spPr>
      </p:sp>
      <p:sp>
        <p:nvSpPr>
          <p:cNvPr id="4" name="Shape 2"/>
          <p:cNvSpPr/>
          <p:nvPr/>
        </p:nvSpPr>
        <p:spPr>
          <a:xfrm>
            <a:off x="731520" y="1645920"/>
            <a:ext cx="5120640" cy="1097280"/>
          </a:xfrm>
          <a:prstGeom prst="rect">
            <a:avLst/>
          </a:prstGeom>
          <a:solidFill>
            <a:srgbClr val="1C2541"/>
          </a:solidFill>
          <a:ln/>
        </p:spPr>
      </p:sp>
      <p:sp>
        <p:nvSpPr>
          <p:cNvPr id="5" name="Text 3"/>
          <p:cNvSpPr/>
          <p:nvPr/>
        </p:nvSpPr>
        <p:spPr>
          <a:xfrm>
            <a:off x="914400" y="1783080"/>
            <a:ext cx="3200400" cy="274320"/>
          </a:xfrm>
          <a:prstGeom prst="rect">
            <a:avLst/>
          </a:prstGeom>
          <a:noFill/>
          <a:ln/>
        </p:spPr>
        <p:txBody>
          <a:bodyPr wrap="square" rtlCol="0" anchor="ctr"/>
          <a:lstStyle/>
          <a:p>
            <a:pPr indent="0" marL="0">
              <a:buNone/>
            </a:pPr>
            <a:r>
              <a:rPr lang="en-US" sz="1400" b="1" dirty="0">
                <a:solidFill>
                  <a:srgbClr val="00FF88"/>
                </a:solidFill>
                <a:latin typeface="Arial" pitchFamily="34" charset="0"/>
                <a:ea typeface="Arial" pitchFamily="34" charset="-122"/>
                <a:cs typeface="Arial" pitchFamily="34" charset="-120"/>
              </a:rPr>
              <a:t>Java 17 &amp; Spring Boot</a:t>
            </a:r>
            <a:endParaRPr lang="en-US" sz="1400" dirty="0"/>
          </a:p>
        </p:txBody>
      </p:sp>
      <p:sp>
        <p:nvSpPr>
          <p:cNvPr id="6" name="Text 4"/>
          <p:cNvSpPr/>
          <p:nvPr/>
        </p:nvSpPr>
        <p:spPr>
          <a:xfrm>
            <a:off x="4206240" y="1783080"/>
            <a:ext cx="1463040" cy="274320"/>
          </a:xfrm>
          <a:prstGeom prst="rect">
            <a:avLst/>
          </a:prstGeom>
          <a:noFill/>
          <a:ln/>
        </p:spPr>
        <p:txBody>
          <a:bodyPr wrap="square" rtlCol="0" anchor="ctr"/>
          <a:lstStyle/>
          <a:p>
            <a:pPr algn="r" indent="0" marL="0">
              <a:buNone/>
            </a:pPr>
            <a:r>
              <a:rPr lang="en-US" sz="1100" b="1" dirty="0">
                <a:solidFill>
                  <a:srgbClr val="0096FF"/>
                </a:solidFill>
                <a:latin typeface="Arial" pitchFamily="34" charset="0"/>
                <a:ea typeface="Arial" pitchFamily="34" charset="-122"/>
                <a:cs typeface="Arial" pitchFamily="34" charset="-120"/>
              </a:rPr>
              <a:t>BACKEND</a:t>
            </a:r>
            <a:endParaRPr lang="en-US" sz="1100" dirty="0"/>
          </a:p>
        </p:txBody>
      </p:sp>
      <p:sp>
        <p:nvSpPr>
          <p:cNvPr id="7" name="Text 5"/>
          <p:cNvSpPr/>
          <p:nvPr/>
        </p:nvSpPr>
        <p:spPr>
          <a:xfrm>
            <a:off x="914400" y="2103120"/>
            <a:ext cx="4754880" cy="54864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Powering robust REST API controllers, security configs, and email routing.</a:t>
            </a:r>
            <a:endParaRPr lang="en-US" sz="1100" dirty="0"/>
          </a:p>
        </p:txBody>
      </p:sp>
      <p:sp>
        <p:nvSpPr>
          <p:cNvPr id="8" name="Shape 6"/>
          <p:cNvSpPr/>
          <p:nvPr/>
        </p:nvSpPr>
        <p:spPr>
          <a:xfrm>
            <a:off x="6126480" y="1645920"/>
            <a:ext cx="5120640" cy="1097280"/>
          </a:xfrm>
          <a:prstGeom prst="rect">
            <a:avLst/>
          </a:prstGeom>
          <a:solidFill>
            <a:srgbClr val="1C2541"/>
          </a:solidFill>
          <a:ln/>
        </p:spPr>
      </p:sp>
      <p:sp>
        <p:nvSpPr>
          <p:cNvPr id="9" name="Text 7"/>
          <p:cNvSpPr/>
          <p:nvPr/>
        </p:nvSpPr>
        <p:spPr>
          <a:xfrm>
            <a:off x="6309360" y="1783080"/>
            <a:ext cx="3200400" cy="274320"/>
          </a:xfrm>
          <a:prstGeom prst="rect">
            <a:avLst/>
          </a:prstGeom>
          <a:noFill/>
          <a:ln/>
        </p:spPr>
        <p:txBody>
          <a:bodyPr wrap="square" rtlCol="0" anchor="ctr"/>
          <a:lstStyle/>
          <a:p>
            <a:pPr indent="0" marL="0">
              <a:buNone/>
            </a:pPr>
            <a:r>
              <a:rPr lang="en-US" sz="1400" b="1" dirty="0">
                <a:solidFill>
                  <a:srgbClr val="00FF88"/>
                </a:solidFill>
                <a:latin typeface="Arial" pitchFamily="34" charset="0"/>
                <a:ea typeface="Arial" pitchFamily="34" charset="-122"/>
                <a:cs typeface="Arial" pitchFamily="34" charset="-120"/>
              </a:rPr>
              <a:t>MongoDB</a:t>
            </a:r>
            <a:endParaRPr lang="en-US" sz="1400" dirty="0"/>
          </a:p>
        </p:txBody>
      </p:sp>
      <p:sp>
        <p:nvSpPr>
          <p:cNvPr id="10" name="Text 8"/>
          <p:cNvSpPr/>
          <p:nvPr/>
        </p:nvSpPr>
        <p:spPr>
          <a:xfrm>
            <a:off x="9601200" y="1783080"/>
            <a:ext cx="1463040" cy="274320"/>
          </a:xfrm>
          <a:prstGeom prst="rect">
            <a:avLst/>
          </a:prstGeom>
          <a:noFill/>
          <a:ln/>
        </p:spPr>
        <p:txBody>
          <a:bodyPr wrap="square" rtlCol="0" anchor="ctr"/>
          <a:lstStyle/>
          <a:p>
            <a:pPr algn="r" indent="0" marL="0">
              <a:buNone/>
            </a:pPr>
            <a:r>
              <a:rPr lang="en-US" sz="1100" b="1" dirty="0">
                <a:solidFill>
                  <a:srgbClr val="0096FF"/>
                </a:solidFill>
                <a:latin typeface="Arial" pitchFamily="34" charset="0"/>
                <a:ea typeface="Arial" pitchFamily="34" charset="-122"/>
                <a:cs typeface="Arial" pitchFamily="34" charset="-120"/>
              </a:rPr>
              <a:t>DATABASE</a:t>
            </a:r>
            <a:endParaRPr lang="en-US" sz="1100" dirty="0"/>
          </a:p>
        </p:txBody>
      </p:sp>
      <p:sp>
        <p:nvSpPr>
          <p:cNvPr id="11" name="Text 9"/>
          <p:cNvSpPr/>
          <p:nvPr/>
        </p:nvSpPr>
        <p:spPr>
          <a:xfrm>
            <a:off x="6309360" y="2103120"/>
            <a:ext cx="4754880" cy="54864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NoSQL document store managing user profiles, bookings, and active OTP states.</a:t>
            </a:r>
            <a:endParaRPr lang="en-US" sz="1100" dirty="0"/>
          </a:p>
        </p:txBody>
      </p:sp>
      <p:sp>
        <p:nvSpPr>
          <p:cNvPr id="12" name="Shape 10"/>
          <p:cNvSpPr/>
          <p:nvPr/>
        </p:nvSpPr>
        <p:spPr>
          <a:xfrm>
            <a:off x="731520" y="3017520"/>
            <a:ext cx="5120640" cy="1097280"/>
          </a:xfrm>
          <a:prstGeom prst="rect">
            <a:avLst/>
          </a:prstGeom>
          <a:solidFill>
            <a:srgbClr val="1C2541"/>
          </a:solidFill>
          <a:ln/>
        </p:spPr>
      </p:sp>
      <p:sp>
        <p:nvSpPr>
          <p:cNvPr id="13" name="Text 11"/>
          <p:cNvSpPr/>
          <p:nvPr/>
        </p:nvSpPr>
        <p:spPr>
          <a:xfrm>
            <a:off x="914400" y="3154680"/>
            <a:ext cx="3200400" cy="274320"/>
          </a:xfrm>
          <a:prstGeom prst="rect">
            <a:avLst/>
          </a:prstGeom>
          <a:noFill/>
          <a:ln/>
        </p:spPr>
        <p:txBody>
          <a:bodyPr wrap="square" rtlCol="0" anchor="ctr"/>
          <a:lstStyle/>
          <a:p>
            <a:pPr indent="0" marL="0">
              <a:buNone/>
            </a:pPr>
            <a:r>
              <a:rPr lang="en-US" sz="1400" b="1" dirty="0">
                <a:solidFill>
                  <a:srgbClr val="00FF88"/>
                </a:solidFill>
                <a:latin typeface="Arial" pitchFamily="34" charset="0"/>
                <a:ea typeface="Arial" pitchFamily="34" charset="-122"/>
                <a:cs typeface="Arial" pitchFamily="34" charset="-120"/>
              </a:rPr>
              <a:t>HTML5 &amp; CSS3 (Vanilla)</a:t>
            </a:r>
            <a:endParaRPr lang="en-US" sz="1400" dirty="0"/>
          </a:p>
        </p:txBody>
      </p:sp>
      <p:sp>
        <p:nvSpPr>
          <p:cNvPr id="14" name="Text 12"/>
          <p:cNvSpPr/>
          <p:nvPr/>
        </p:nvSpPr>
        <p:spPr>
          <a:xfrm>
            <a:off x="4206240" y="3154680"/>
            <a:ext cx="1463040" cy="274320"/>
          </a:xfrm>
          <a:prstGeom prst="rect">
            <a:avLst/>
          </a:prstGeom>
          <a:noFill/>
          <a:ln/>
        </p:spPr>
        <p:txBody>
          <a:bodyPr wrap="square" rtlCol="0" anchor="ctr"/>
          <a:lstStyle/>
          <a:p>
            <a:pPr algn="r" indent="0" marL="0">
              <a:buNone/>
            </a:pPr>
            <a:r>
              <a:rPr lang="en-US" sz="1100" b="1" dirty="0">
                <a:solidFill>
                  <a:srgbClr val="0096FF"/>
                </a:solidFill>
                <a:latin typeface="Arial" pitchFamily="34" charset="0"/>
                <a:ea typeface="Arial" pitchFamily="34" charset="-122"/>
                <a:cs typeface="Arial" pitchFamily="34" charset="-120"/>
              </a:rPr>
              <a:t>FRONTEND</a:t>
            </a:r>
            <a:endParaRPr lang="en-US" sz="1100" dirty="0"/>
          </a:p>
        </p:txBody>
      </p:sp>
      <p:sp>
        <p:nvSpPr>
          <p:cNvPr id="15" name="Text 13"/>
          <p:cNvSpPr/>
          <p:nvPr/>
        </p:nvSpPr>
        <p:spPr>
          <a:xfrm>
            <a:off x="914400" y="3474720"/>
            <a:ext cx="4754880" cy="54864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Modern responsive styling with customized neon glows and micro-animations.</a:t>
            </a:r>
            <a:endParaRPr lang="en-US" sz="1100" dirty="0"/>
          </a:p>
        </p:txBody>
      </p:sp>
      <p:sp>
        <p:nvSpPr>
          <p:cNvPr id="16" name="Shape 14"/>
          <p:cNvSpPr/>
          <p:nvPr/>
        </p:nvSpPr>
        <p:spPr>
          <a:xfrm>
            <a:off x="6126480" y="3017520"/>
            <a:ext cx="5120640" cy="1097280"/>
          </a:xfrm>
          <a:prstGeom prst="rect">
            <a:avLst/>
          </a:prstGeom>
          <a:solidFill>
            <a:srgbClr val="1C2541"/>
          </a:solidFill>
          <a:ln/>
        </p:spPr>
      </p:sp>
      <p:sp>
        <p:nvSpPr>
          <p:cNvPr id="17" name="Text 15"/>
          <p:cNvSpPr/>
          <p:nvPr/>
        </p:nvSpPr>
        <p:spPr>
          <a:xfrm>
            <a:off x="6309360" y="3154680"/>
            <a:ext cx="3200400" cy="274320"/>
          </a:xfrm>
          <a:prstGeom prst="rect">
            <a:avLst/>
          </a:prstGeom>
          <a:noFill/>
          <a:ln/>
        </p:spPr>
        <p:txBody>
          <a:bodyPr wrap="square" rtlCol="0" anchor="ctr"/>
          <a:lstStyle/>
          <a:p>
            <a:pPr indent="0" marL="0">
              <a:buNone/>
            </a:pPr>
            <a:r>
              <a:rPr lang="en-US" sz="1400" b="1" dirty="0">
                <a:solidFill>
                  <a:srgbClr val="00FF88"/>
                </a:solidFill>
                <a:latin typeface="Arial" pitchFamily="34" charset="0"/>
                <a:ea typeface="Arial" pitchFamily="34" charset="-122"/>
                <a:cs typeface="Arial" pitchFamily="34" charset="-120"/>
              </a:rPr>
              <a:t>JavaMailSender (SMTP)</a:t>
            </a:r>
            <a:endParaRPr lang="en-US" sz="1400" dirty="0"/>
          </a:p>
        </p:txBody>
      </p:sp>
      <p:sp>
        <p:nvSpPr>
          <p:cNvPr id="18" name="Text 16"/>
          <p:cNvSpPr/>
          <p:nvPr/>
        </p:nvSpPr>
        <p:spPr>
          <a:xfrm>
            <a:off x="9601200" y="3154680"/>
            <a:ext cx="1463040" cy="274320"/>
          </a:xfrm>
          <a:prstGeom prst="rect">
            <a:avLst/>
          </a:prstGeom>
          <a:noFill/>
          <a:ln/>
        </p:spPr>
        <p:txBody>
          <a:bodyPr wrap="square" rtlCol="0" anchor="ctr"/>
          <a:lstStyle/>
          <a:p>
            <a:pPr algn="r" indent="0" marL="0">
              <a:buNone/>
            </a:pPr>
            <a:r>
              <a:rPr lang="en-US" sz="1100" b="1" dirty="0">
                <a:solidFill>
                  <a:srgbClr val="0096FF"/>
                </a:solidFill>
                <a:latin typeface="Arial" pitchFamily="34" charset="0"/>
                <a:ea typeface="Arial" pitchFamily="34" charset="-122"/>
                <a:cs typeface="Arial" pitchFamily="34" charset="-120"/>
              </a:rPr>
              <a:t>EMAIL SERVICE</a:t>
            </a:r>
            <a:endParaRPr lang="en-US" sz="1100" dirty="0"/>
          </a:p>
        </p:txBody>
      </p:sp>
      <p:sp>
        <p:nvSpPr>
          <p:cNvPr id="19" name="Text 17"/>
          <p:cNvSpPr/>
          <p:nvPr/>
        </p:nvSpPr>
        <p:spPr>
          <a:xfrm>
            <a:off x="6309360" y="3474720"/>
            <a:ext cx="4754880" cy="54864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Dispatches HTML format templates for OTP delivery and Welcome updates.</a:t>
            </a:r>
            <a:endParaRPr lang="en-US" sz="1100" dirty="0"/>
          </a:p>
        </p:txBody>
      </p:sp>
      <p:sp>
        <p:nvSpPr>
          <p:cNvPr id="20" name="Shape 18"/>
          <p:cNvSpPr/>
          <p:nvPr/>
        </p:nvSpPr>
        <p:spPr>
          <a:xfrm>
            <a:off x="731520" y="4389120"/>
            <a:ext cx="5120640" cy="1097280"/>
          </a:xfrm>
          <a:prstGeom prst="rect">
            <a:avLst/>
          </a:prstGeom>
          <a:solidFill>
            <a:srgbClr val="1C2541"/>
          </a:solidFill>
          <a:ln/>
        </p:spPr>
      </p:sp>
      <p:sp>
        <p:nvSpPr>
          <p:cNvPr id="21" name="Text 19"/>
          <p:cNvSpPr/>
          <p:nvPr/>
        </p:nvSpPr>
        <p:spPr>
          <a:xfrm>
            <a:off x="914400" y="4526280"/>
            <a:ext cx="3200400" cy="274320"/>
          </a:xfrm>
          <a:prstGeom prst="rect">
            <a:avLst/>
          </a:prstGeom>
          <a:noFill/>
          <a:ln/>
        </p:spPr>
        <p:txBody>
          <a:bodyPr wrap="square" rtlCol="0" anchor="ctr"/>
          <a:lstStyle/>
          <a:p>
            <a:pPr indent="0" marL="0">
              <a:buNone/>
            </a:pPr>
            <a:r>
              <a:rPr lang="en-US" sz="1400" b="1" dirty="0">
                <a:solidFill>
                  <a:srgbClr val="00FF88"/>
                </a:solidFill>
                <a:latin typeface="Arial" pitchFamily="34" charset="0"/>
                <a:ea typeface="Arial" pitchFamily="34" charset="-122"/>
                <a:cs typeface="Arial" pitchFamily="34" charset="-120"/>
              </a:rPr>
              <a:t>GitHub Version Control</a:t>
            </a:r>
            <a:endParaRPr lang="en-US" sz="1400" dirty="0"/>
          </a:p>
        </p:txBody>
      </p:sp>
      <p:sp>
        <p:nvSpPr>
          <p:cNvPr id="22" name="Text 20"/>
          <p:cNvSpPr/>
          <p:nvPr/>
        </p:nvSpPr>
        <p:spPr>
          <a:xfrm>
            <a:off x="4206240" y="4526280"/>
            <a:ext cx="1463040" cy="274320"/>
          </a:xfrm>
          <a:prstGeom prst="rect">
            <a:avLst/>
          </a:prstGeom>
          <a:noFill/>
          <a:ln/>
        </p:spPr>
        <p:txBody>
          <a:bodyPr wrap="square" rtlCol="0" anchor="ctr"/>
          <a:lstStyle/>
          <a:p>
            <a:pPr algn="r" indent="0" marL="0">
              <a:buNone/>
            </a:pPr>
            <a:r>
              <a:rPr lang="en-US" sz="1100" b="1" dirty="0">
                <a:solidFill>
                  <a:srgbClr val="0096FF"/>
                </a:solidFill>
                <a:latin typeface="Arial" pitchFamily="34" charset="0"/>
                <a:ea typeface="Arial" pitchFamily="34" charset="-122"/>
                <a:cs typeface="Arial" pitchFamily="34" charset="-120"/>
              </a:rPr>
              <a:t>COLLAB/GIT</a:t>
            </a:r>
            <a:endParaRPr lang="en-US" sz="1100" dirty="0"/>
          </a:p>
        </p:txBody>
      </p:sp>
      <p:sp>
        <p:nvSpPr>
          <p:cNvPr id="23" name="Text 21"/>
          <p:cNvSpPr/>
          <p:nvPr/>
        </p:nvSpPr>
        <p:spPr>
          <a:xfrm>
            <a:off x="914400" y="4846320"/>
            <a:ext cx="4754880" cy="54864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Securing codebase tracking and platform deployment versioning.</a:t>
            </a:r>
            <a:endParaRPr lang="en-US" sz="1100" dirty="0"/>
          </a:p>
        </p:txBody>
      </p:sp>
      <p:sp>
        <p:nvSpPr>
          <p:cNvPr id="24" name="Shape 22"/>
          <p:cNvSpPr/>
          <p:nvPr/>
        </p:nvSpPr>
        <p:spPr>
          <a:xfrm>
            <a:off x="6126480" y="4389120"/>
            <a:ext cx="5120640" cy="1097280"/>
          </a:xfrm>
          <a:prstGeom prst="rect">
            <a:avLst/>
          </a:prstGeom>
          <a:solidFill>
            <a:srgbClr val="1C2541"/>
          </a:solidFill>
          <a:ln/>
        </p:spPr>
      </p:sp>
      <p:sp>
        <p:nvSpPr>
          <p:cNvPr id="25" name="Text 23"/>
          <p:cNvSpPr/>
          <p:nvPr/>
        </p:nvSpPr>
        <p:spPr>
          <a:xfrm>
            <a:off x="6309360" y="4526280"/>
            <a:ext cx="3200400" cy="274320"/>
          </a:xfrm>
          <a:prstGeom prst="rect">
            <a:avLst/>
          </a:prstGeom>
          <a:noFill/>
          <a:ln/>
        </p:spPr>
        <p:txBody>
          <a:bodyPr wrap="square" rtlCol="0" anchor="ctr"/>
          <a:lstStyle/>
          <a:p>
            <a:pPr indent="0" marL="0">
              <a:buNone/>
            </a:pPr>
            <a:r>
              <a:rPr lang="en-US" sz="1400" b="1" dirty="0">
                <a:solidFill>
                  <a:srgbClr val="00FF88"/>
                </a:solidFill>
                <a:latin typeface="Arial" pitchFamily="34" charset="0"/>
                <a:ea typeface="Arial" pitchFamily="34" charset="-122"/>
                <a:cs typeface="Arial" pitchFamily="34" charset="-120"/>
              </a:rPr>
              <a:t>AWS EC2</a:t>
            </a:r>
            <a:endParaRPr lang="en-US" sz="1400" dirty="0"/>
          </a:p>
        </p:txBody>
      </p:sp>
      <p:sp>
        <p:nvSpPr>
          <p:cNvPr id="26" name="Text 24"/>
          <p:cNvSpPr/>
          <p:nvPr/>
        </p:nvSpPr>
        <p:spPr>
          <a:xfrm>
            <a:off x="9601200" y="4526280"/>
            <a:ext cx="1463040" cy="274320"/>
          </a:xfrm>
          <a:prstGeom prst="rect">
            <a:avLst/>
          </a:prstGeom>
          <a:noFill/>
          <a:ln/>
        </p:spPr>
        <p:txBody>
          <a:bodyPr wrap="square" rtlCol="0" anchor="ctr"/>
          <a:lstStyle/>
          <a:p>
            <a:pPr algn="r" indent="0" marL="0">
              <a:buNone/>
            </a:pPr>
            <a:r>
              <a:rPr lang="en-US" sz="1100" b="1" dirty="0">
                <a:solidFill>
                  <a:srgbClr val="0096FF"/>
                </a:solidFill>
                <a:latin typeface="Arial" pitchFamily="34" charset="0"/>
                <a:ea typeface="Arial" pitchFamily="34" charset="-122"/>
                <a:cs typeface="Arial" pitchFamily="34" charset="-120"/>
              </a:rPr>
              <a:t>HOSTING</a:t>
            </a:r>
            <a:endParaRPr lang="en-US" sz="1100" dirty="0"/>
          </a:p>
        </p:txBody>
      </p:sp>
      <p:sp>
        <p:nvSpPr>
          <p:cNvPr id="27" name="Text 25"/>
          <p:cNvSpPr/>
          <p:nvPr/>
        </p:nvSpPr>
        <p:spPr>
          <a:xfrm>
            <a:off x="6309360" y="4846320"/>
            <a:ext cx="4754880" cy="54864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Deploying Spring Boot package live, keeping system online 24/7.</a:t>
            </a:r>
            <a:endParaRPr lang="en-US" sz="11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457200"/>
            <a:ext cx="10515600" cy="731520"/>
          </a:xfrm>
          <a:prstGeom prst="rect">
            <a:avLst/>
          </a:prstGeom>
          <a:noFill/>
          <a:ln/>
        </p:spPr>
        <p:txBody>
          <a:bodyPr wrap="square" rtlCol="0" anchor="ctr"/>
          <a:lstStyle/>
          <a:p>
            <a:pPr indent="0" marL="0">
              <a:buNone/>
            </a:pPr>
            <a:r>
              <a:rPr lang="en-US" sz="3200" b="1" dirty="0">
                <a:solidFill>
                  <a:srgbClr val="00FF88"/>
                </a:solidFill>
                <a:latin typeface="Arial" pitchFamily="34" charset="0"/>
                <a:ea typeface="Arial" pitchFamily="34" charset="-122"/>
                <a:cs typeface="Arial" pitchFamily="34" charset="-120"/>
              </a:rPr>
              <a:t>What Makes Turf Mate Unique?</a:t>
            </a:r>
            <a:endParaRPr lang="en-US" sz="3200" dirty="0"/>
          </a:p>
        </p:txBody>
      </p:sp>
      <p:sp>
        <p:nvSpPr>
          <p:cNvPr id="3" name="Shape 1"/>
          <p:cNvSpPr/>
          <p:nvPr/>
        </p:nvSpPr>
        <p:spPr>
          <a:xfrm>
            <a:off x="731520" y="1188720"/>
            <a:ext cx="3657600" cy="36576"/>
          </a:xfrm>
          <a:prstGeom prst="rect">
            <a:avLst/>
          </a:prstGeom>
          <a:solidFill>
            <a:srgbClr val="0096FF"/>
          </a:solidFill>
          <a:ln/>
        </p:spPr>
      </p:sp>
      <p:sp>
        <p:nvSpPr>
          <p:cNvPr id="4" name="Shape 2"/>
          <p:cNvSpPr/>
          <p:nvPr/>
        </p:nvSpPr>
        <p:spPr>
          <a:xfrm>
            <a:off x="731520" y="1645920"/>
            <a:ext cx="10698480" cy="1097280"/>
          </a:xfrm>
          <a:prstGeom prst="rect">
            <a:avLst/>
          </a:prstGeom>
          <a:solidFill>
            <a:srgbClr val="1C2541"/>
          </a:solidFill>
          <a:ln w="12700">
            <a:solidFill>
              <a:srgbClr val="00FF88"/>
            </a:solidFill>
            <a:prstDash val="solid"/>
          </a:ln>
        </p:spPr>
      </p:sp>
      <p:sp>
        <p:nvSpPr>
          <p:cNvPr id="5" name="Text 3"/>
          <p:cNvSpPr/>
          <p:nvPr/>
        </p:nvSpPr>
        <p:spPr>
          <a:xfrm>
            <a:off x="1005840" y="1783080"/>
            <a:ext cx="10149840" cy="274320"/>
          </a:xfrm>
          <a:prstGeom prst="rect">
            <a:avLst/>
          </a:prstGeom>
          <a:noFill/>
          <a:ln/>
        </p:spPr>
        <p:txBody>
          <a:bodyPr wrap="square" rtlCol="0" anchor="ctr"/>
          <a:lstStyle/>
          <a:p>
            <a:pPr indent="0" marL="0">
              <a:buNone/>
            </a:pPr>
            <a:r>
              <a:rPr lang="en-US" sz="1500" b="1" dirty="0">
                <a:solidFill>
                  <a:srgbClr val="DBF429"/>
                </a:solidFill>
                <a:latin typeface="Arial" pitchFamily="34" charset="0"/>
                <a:ea typeface="Arial" pitchFamily="34" charset="-122"/>
                <a:cs typeface="Arial" pitchFamily="34" charset="-120"/>
              </a:rPr>
              <a:t>Intelligent SMTP Fallback Mode</a:t>
            </a:r>
            <a:endParaRPr lang="en-US" sz="1500" dirty="0"/>
          </a:p>
        </p:txBody>
      </p:sp>
      <p:sp>
        <p:nvSpPr>
          <p:cNvPr id="6" name="Text 4"/>
          <p:cNvSpPr/>
          <p:nvPr/>
        </p:nvSpPr>
        <p:spPr>
          <a:xfrm>
            <a:off x="1005840" y="2103120"/>
            <a:ext cx="10149840" cy="548640"/>
          </a:xfrm>
          <a:prstGeom prst="rect">
            <a:avLst/>
          </a:prstGeom>
          <a:noFill/>
          <a:ln/>
        </p:spPr>
        <p:txBody>
          <a:bodyPr wrap="square" rtlCol="0" anchor="ctr"/>
          <a:lstStyle/>
          <a:p>
            <a:pPr indent="0" marL="0">
              <a:buNone/>
            </a:pPr>
            <a:r>
              <a:rPr lang="en-US" sz="1200" dirty="0">
                <a:solidFill>
                  <a:srgbClr val="F0F4F8"/>
                </a:solidFill>
                <a:latin typeface="Arial" pitchFamily="34" charset="0"/>
                <a:ea typeface="Arial" pitchFamily="34" charset="-122"/>
                <a:cs typeface="Arial" pitchFamily="34" charset="-120"/>
              </a:rPr>
              <a:t>If SMTP keys are missing or offline during development, the backend injects the OTP into the API response. The UI detects this and automatically populates the input fields, ensuring the flow is fully testable without blocking features.</a:t>
            </a:r>
            <a:endParaRPr lang="en-US" sz="1200" dirty="0"/>
          </a:p>
        </p:txBody>
      </p:sp>
      <p:sp>
        <p:nvSpPr>
          <p:cNvPr id="7" name="Shape 5"/>
          <p:cNvSpPr/>
          <p:nvPr/>
        </p:nvSpPr>
        <p:spPr>
          <a:xfrm>
            <a:off x="731520" y="3017520"/>
            <a:ext cx="10698480" cy="1097280"/>
          </a:xfrm>
          <a:prstGeom prst="rect">
            <a:avLst/>
          </a:prstGeom>
          <a:solidFill>
            <a:srgbClr val="1C2541"/>
          </a:solidFill>
          <a:ln w="12700">
            <a:solidFill>
              <a:srgbClr val="00FF88"/>
            </a:solidFill>
            <a:prstDash val="solid"/>
          </a:ln>
        </p:spPr>
      </p:sp>
      <p:sp>
        <p:nvSpPr>
          <p:cNvPr id="8" name="Text 6"/>
          <p:cNvSpPr/>
          <p:nvPr/>
        </p:nvSpPr>
        <p:spPr>
          <a:xfrm>
            <a:off x="1005840" y="3154680"/>
            <a:ext cx="10149840" cy="274320"/>
          </a:xfrm>
          <a:prstGeom prst="rect">
            <a:avLst/>
          </a:prstGeom>
          <a:noFill/>
          <a:ln/>
        </p:spPr>
        <p:txBody>
          <a:bodyPr wrap="square" rtlCol="0" anchor="ctr"/>
          <a:lstStyle/>
          <a:p>
            <a:pPr indent="0" marL="0">
              <a:buNone/>
            </a:pPr>
            <a:r>
              <a:rPr lang="en-US" sz="1500" b="1" dirty="0">
                <a:solidFill>
                  <a:srgbClr val="DBF429"/>
                </a:solidFill>
                <a:latin typeface="Arial" pitchFamily="34" charset="0"/>
                <a:ea typeface="Arial" pitchFamily="34" charset="-122"/>
                <a:cs typeface="Arial" pitchFamily="34" charset="-120"/>
              </a:rPr>
              <a:t>Generic Validation Engine</a:t>
            </a:r>
            <a:endParaRPr lang="en-US" sz="1500" dirty="0"/>
          </a:p>
        </p:txBody>
      </p:sp>
      <p:sp>
        <p:nvSpPr>
          <p:cNvPr id="9" name="Text 7"/>
          <p:cNvSpPr/>
          <p:nvPr/>
        </p:nvSpPr>
        <p:spPr>
          <a:xfrm>
            <a:off x="1005840" y="3474720"/>
            <a:ext cx="10149840" cy="548640"/>
          </a:xfrm>
          <a:prstGeom prst="rect">
            <a:avLst/>
          </a:prstGeom>
          <a:noFill/>
          <a:ln/>
        </p:spPr>
        <p:txBody>
          <a:bodyPr wrap="square" rtlCol="0" anchor="ctr"/>
          <a:lstStyle/>
          <a:p>
            <a:pPr indent="0" marL="0">
              <a:buNone/>
            </a:pPr>
            <a:r>
              <a:rPr lang="en-US" sz="1200" dirty="0">
                <a:solidFill>
                  <a:srgbClr val="F0F4F8"/>
                </a:solidFill>
                <a:latin typeface="Arial" pitchFamily="34" charset="0"/>
                <a:ea typeface="Arial" pitchFamily="34" charset="-122"/>
                <a:cs typeface="Arial" pitchFamily="34" charset="-120"/>
              </a:rPr>
              <a:t>Instead of limiting validation strictly to Outlook or Gmail, our custom regular-expression validation works dynamically with any standard email provider, corporate, or personal domain.</a:t>
            </a:r>
            <a:endParaRPr lang="en-US" sz="1200" dirty="0"/>
          </a:p>
        </p:txBody>
      </p:sp>
      <p:sp>
        <p:nvSpPr>
          <p:cNvPr id="10" name="Shape 8"/>
          <p:cNvSpPr/>
          <p:nvPr/>
        </p:nvSpPr>
        <p:spPr>
          <a:xfrm>
            <a:off x="731520" y="4389120"/>
            <a:ext cx="10698480" cy="1097280"/>
          </a:xfrm>
          <a:prstGeom prst="rect">
            <a:avLst/>
          </a:prstGeom>
          <a:solidFill>
            <a:srgbClr val="1C2541"/>
          </a:solidFill>
          <a:ln w="12700">
            <a:solidFill>
              <a:srgbClr val="00FF88"/>
            </a:solidFill>
            <a:prstDash val="solid"/>
          </a:ln>
        </p:spPr>
      </p:sp>
      <p:sp>
        <p:nvSpPr>
          <p:cNvPr id="11" name="Text 9"/>
          <p:cNvSpPr/>
          <p:nvPr/>
        </p:nvSpPr>
        <p:spPr>
          <a:xfrm>
            <a:off x="1005840" y="4526280"/>
            <a:ext cx="10149840" cy="274320"/>
          </a:xfrm>
          <a:prstGeom prst="rect">
            <a:avLst/>
          </a:prstGeom>
          <a:noFill/>
          <a:ln/>
        </p:spPr>
        <p:txBody>
          <a:bodyPr wrap="square" rtlCol="0" anchor="ctr"/>
          <a:lstStyle/>
          <a:p>
            <a:pPr indent="0" marL="0">
              <a:buNone/>
            </a:pPr>
            <a:r>
              <a:rPr lang="en-US" sz="1500" b="1" dirty="0">
                <a:solidFill>
                  <a:srgbClr val="DBF429"/>
                </a:solidFill>
                <a:latin typeface="Arial" pitchFamily="34" charset="0"/>
                <a:ea typeface="Arial" pitchFamily="34" charset="-122"/>
                <a:cs typeface="Arial" pitchFamily="34" charset="-120"/>
              </a:rPr>
              <a:t>Automatic Verification Redirection</a:t>
            </a:r>
            <a:endParaRPr lang="en-US" sz="1500" dirty="0"/>
          </a:p>
        </p:txBody>
      </p:sp>
      <p:sp>
        <p:nvSpPr>
          <p:cNvPr id="12" name="Text 10"/>
          <p:cNvSpPr/>
          <p:nvPr/>
        </p:nvSpPr>
        <p:spPr>
          <a:xfrm>
            <a:off x="1005840" y="4846320"/>
            <a:ext cx="10149840" cy="548640"/>
          </a:xfrm>
          <a:prstGeom prst="rect">
            <a:avLst/>
          </a:prstGeom>
          <a:noFill/>
          <a:ln/>
        </p:spPr>
        <p:txBody>
          <a:bodyPr wrap="square" rtlCol="0" anchor="ctr"/>
          <a:lstStyle/>
          <a:p>
            <a:pPr indent="0" marL="0">
              <a:buNone/>
            </a:pPr>
            <a:r>
              <a:rPr lang="en-US" sz="1200" dirty="0">
                <a:solidFill>
                  <a:srgbClr val="F0F4F8"/>
                </a:solidFill>
                <a:latin typeface="Arial" pitchFamily="34" charset="0"/>
                <a:ea typeface="Arial" pitchFamily="34" charset="-122"/>
                <a:cs typeface="Arial" pitchFamily="34" charset="-120"/>
              </a:rPr>
              <a:t>When a registered user attempts to sign in but has not yet verified their email, the app intercepts the HTTP 403 Forbidden response, opens the verification modal, and initiates a secure OTP prompt.</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457200"/>
            <a:ext cx="10515600" cy="731520"/>
          </a:xfrm>
          <a:prstGeom prst="rect">
            <a:avLst/>
          </a:prstGeom>
          <a:noFill/>
          <a:ln/>
        </p:spPr>
        <p:txBody>
          <a:bodyPr wrap="square" rtlCol="0" anchor="ctr"/>
          <a:lstStyle/>
          <a:p>
            <a:pPr indent="0" marL="0">
              <a:buNone/>
            </a:pPr>
            <a:r>
              <a:rPr lang="en-US" sz="3200" b="1" dirty="0">
                <a:solidFill>
                  <a:srgbClr val="00FF88"/>
                </a:solidFill>
                <a:latin typeface="Arial" pitchFamily="34" charset="0"/>
                <a:ea typeface="Arial" pitchFamily="34" charset="-122"/>
                <a:cs typeface="Arial" pitchFamily="34" charset="-120"/>
              </a:rPr>
              <a:t>Similar Projects Comparison</a:t>
            </a:r>
            <a:endParaRPr lang="en-US" sz="3200" dirty="0"/>
          </a:p>
        </p:txBody>
      </p:sp>
      <p:sp>
        <p:nvSpPr>
          <p:cNvPr id="3" name="Shape 1"/>
          <p:cNvSpPr/>
          <p:nvPr/>
        </p:nvSpPr>
        <p:spPr>
          <a:xfrm>
            <a:off x="731520" y="1188720"/>
            <a:ext cx="3657600" cy="36576"/>
          </a:xfrm>
          <a:prstGeom prst="rect">
            <a:avLst/>
          </a:prstGeom>
          <a:solidFill>
            <a:srgbClr val="0096FF"/>
          </a:solidFill>
          <a:ln/>
        </p:spPr>
      </p:sp>
      <p:sp>
        <p:nvSpPr>
          <p:cNvPr id="4" name="Shape 2"/>
          <p:cNvSpPr/>
          <p:nvPr/>
        </p:nvSpPr>
        <p:spPr>
          <a:xfrm>
            <a:off x="731520" y="1645920"/>
            <a:ext cx="10698480" cy="457200"/>
          </a:xfrm>
          <a:prstGeom prst="rect">
            <a:avLst/>
          </a:prstGeom>
          <a:solidFill>
            <a:srgbClr val="0096FF"/>
          </a:solidFill>
          <a:ln/>
        </p:spPr>
      </p:sp>
      <p:sp>
        <p:nvSpPr>
          <p:cNvPr id="5" name="Text 3"/>
          <p:cNvSpPr/>
          <p:nvPr/>
        </p:nvSpPr>
        <p:spPr>
          <a:xfrm>
            <a:off x="914400" y="1737360"/>
            <a:ext cx="10332720" cy="274320"/>
          </a:xfrm>
          <a:prstGeom prst="rect">
            <a:avLst/>
          </a:prstGeom>
          <a:noFill/>
          <a:ln/>
        </p:spPr>
        <p:txBody>
          <a:bodyPr wrap="square" rtlCol="0" anchor="ctr"/>
          <a:lstStyle/>
          <a:p>
            <a:pPr indent="0" marL="0">
              <a:buNone/>
            </a:pPr>
            <a:r>
              <a:rPr lang="en-US" sz="1400" b="1" dirty="0">
                <a:solidFill>
                  <a:srgbClr val="FFFFFF"/>
                </a:solidFill>
                <a:latin typeface="Arial" pitchFamily="34" charset="0"/>
                <a:ea typeface="Arial" pitchFamily="34" charset="-122"/>
                <a:cs typeface="Arial" pitchFamily="34" charset="-120"/>
              </a:rPr>
              <a:t>Feature Comparison</a:t>
            </a:r>
            <a:endParaRPr lang="en-US" sz="1400" dirty="0"/>
          </a:p>
        </p:txBody>
      </p:sp>
      <p:sp>
        <p:nvSpPr>
          <p:cNvPr id="6" name="Shape 4"/>
          <p:cNvSpPr/>
          <p:nvPr/>
        </p:nvSpPr>
        <p:spPr>
          <a:xfrm>
            <a:off x="731520" y="2194560"/>
            <a:ext cx="2675077" cy="640080"/>
          </a:xfrm>
          <a:prstGeom prst="rect">
            <a:avLst/>
          </a:prstGeom>
          <a:solidFill>
            <a:srgbClr val="1C2541"/>
          </a:solidFill>
          <a:ln w="12700">
            <a:solidFill>
              <a:srgbClr val="1C2541"/>
            </a:solidFill>
            <a:prstDash val="solid"/>
          </a:ln>
        </p:spPr>
      </p:sp>
      <p:sp>
        <p:nvSpPr>
          <p:cNvPr id="7" name="Text 5"/>
          <p:cNvSpPr/>
          <p:nvPr/>
        </p:nvSpPr>
        <p:spPr>
          <a:xfrm>
            <a:off x="822960" y="2286000"/>
            <a:ext cx="2492197" cy="457200"/>
          </a:xfrm>
          <a:prstGeom prst="rect">
            <a:avLst/>
          </a:prstGeom>
          <a:noFill/>
          <a:ln/>
        </p:spPr>
        <p:txBody>
          <a:bodyPr wrap="square" rtlCol="0" anchor="ctr"/>
          <a:lstStyle/>
          <a:p>
            <a:pPr indent="0" marL="0">
              <a:buNone/>
            </a:pPr>
            <a:r>
              <a:rPr lang="en-US" sz="1200" b="1" dirty="0">
                <a:solidFill>
                  <a:srgbClr val="0096FF"/>
                </a:solidFill>
                <a:latin typeface="Arial" pitchFamily="34" charset="0"/>
                <a:ea typeface="Arial" pitchFamily="34" charset="-122"/>
                <a:cs typeface="Arial" pitchFamily="34" charset="-120"/>
              </a:rPr>
              <a:t>Feature / Capability</a:t>
            </a:r>
            <a:endParaRPr lang="en-US" sz="1200" dirty="0"/>
          </a:p>
        </p:txBody>
      </p:sp>
      <p:sp>
        <p:nvSpPr>
          <p:cNvPr id="8" name="Shape 6"/>
          <p:cNvSpPr/>
          <p:nvPr/>
        </p:nvSpPr>
        <p:spPr>
          <a:xfrm>
            <a:off x="3406140" y="2194560"/>
            <a:ext cx="2675077" cy="640080"/>
          </a:xfrm>
          <a:prstGeom prst="rect">
            <a:avLst/>
          </a:prstGeom>
          <a:solidFill>
            <a:srgbClr val="1C2541"/>
          </a:solidFill>
          <a:ln w="12700">
            <a:solidFill>
              <a:srgbClr val="1C2541"/>
            </a:solidFill>
            <a:prstDash val="solid"/>
          </a:ln>
        </p:spPr>
      </p:sp>
      <p:sp>
        <p:nvSpPr>
          <p:cNvPr id="9" name="Text 7"/>
          <p:cNvSpPr/>
          <p:nvPr/>
        </p:nvSpPr>
        <p:spPr>
          <a:xfrm>
            <a:off x="3497580" y="2286000"/>
            <a:ext cx="2492197" cy="457200"/>
          </a:xfrm>
          <a:prstGeom prst="rect">
            <a:avLst/>
          </a:prstGeom>
          <a:noFill/>
          <a:ln/>
        </p:spPr>
        <p:txBody>
          <a:bodyPr wrap="square" rtlCol="0" anchor="ctr"/>
          <a:lstStyle/>
          <a:p>
            <a:pPr indent="0" marL="0">
              <a:buNone/>
            </a:pPr>
            <a:r>
              <a:rPr lang="en-US" sz="1200" b="1" dirty="0">
                <a:solidFill>
                  <a:srgbClr val="00FF88"/>
                </a:solidFill>
                <a:latin typeface="Arial" pitchFamily="34" charset="0"/>
                <a:ea typeface="Arial" pitchFamily="34" charset="-122"/>
                <a:cs typeface="Arial" pitchFamily="34" charset="-120"/>
              </a:rPr>
              <a:t>Turf Mate</a:t>
            </a:r>
            <a:endParaRPr lang="en-US" sz="1200" dirty="0"/>
          </a:p>
        </p:txBody>
      </p:sp>
      <p:sp>
        <p:nvSpPr>
          <p:cNvPr id="10" name="Shape 8"/>
          <p:cNvSpPr/>
          <p:nvPr/>
        </p:nvSpPr>
        <p:spPr>
          <a:xfrm>
            <a:off x="6080760" y="2194560"/>
            <a:ext cx="2675077" cy="640080"/>
          </a:xfrm>
          <a:prstGeom prst="rect">
            <a:avLst/>
          </a:prstGeom>
          <a:solidFill>
            <a:srgbClr val="1C2541"/>
          </a:solidFill>
          <a:ln w="12700">
            <a:solidFill>
              <a:srgbClr val="1C2541"/>
            </a:solidFill>
            <a:prstDash val="solid"/>
          </a:ln>
        </p:spPr>
      </p:sp>
      <p:sp>
        <p:nvSpPr>
          <p:cNvPr id="11" name="Text 9"/>
          <p:cNvSpPr/>
          <p:nvPr/>
        </p:nvSpPr>
        <p:spPr>
          <a:xfrm>
            <a:off x="6172200" y="2286000"/>
            <a:ext cx="2492197" cy="457200"/>
          </a:xfrm>
          <a:prstGeom prst="rect">
            <a:avLst/>
          </a:prstGeom>
          <a:noFill/>
          <a:ln/>
        </p:spPr>
        <p:txBody>
          <a:bodyPr wrap="square" rtlCol="0" anchor="ctr"/>
          <a:lstStyle/>
          <a:p>
            <a:pPr indent="0" marL="0">
              <a:buNone/>
            </a:pPr>
            <a:r>
              <a:rPr lang="en-US" sz="1200" b="1" dirty="0">
                <a:solidFill>
                  <a:srgbClr val="0096FF"/>
                </a:solidFill>
                <a:latin typeface="Arial" pitchFamily="34" charset="0"/>
                <a:ea typeface="Arial" pitchFamily="34" charset="-122"/>
                <a:cs typeface="Arial" pitchFamily="34" charset="-120"/>
              </a:rPr>
              <a:t>TurfTown / Playo</a:t>
            </a:r>
            <a:endParaRPr lang="en-US" sz="1200" dirty="0"/>
          </a:p>
        </p:txBody>
      </p:sp>
      <p:sp>
        <p:nvSpPr>
          <p:cNvPr id="12" name="Shape 10"/>
          <p:cNvSpPr/>
          <p:nvPr/>
        </p:nvSpPr>
        <p:spPr>
          <a:xfrm>
            <a:off x="8755380" y="2194560"/>
            <a:ext cx="2675077" cy="640080"/>
          </a:xfrm>
          <a:prstGeom prst="rect">
            <a:avLst/>
          </a:prstGeom>
          <a:solidFill>
            <a:srgbClr val="1C2541"/>
          </a:solidFill>
          <a:ln w="12700">
            <a:solidFill>
              <a:srgbClr val="1C2541"/>
            </a:solidFill>
            <a:prstDash val="solid"/>
          </a:ln>
        </p:spPr>
      </p:sp>
      <p:sp>
        <p:nvSpPr>
          <p:cNvPr id="13" name="Text 11"/>
          <p:cNvSpPr/>
          <p:nvPr/>
        </p:nvSpPr>
        <p:spPr>
          <a:xfrm>
            <a:off x="8846820" y="2286000"/>
            <a:ext cx="2492197" cy="457200"/>
          </a:xfrm>
          <a:prstGeom prst="rect">
            <a:avLst/>
          </a:prstGeom>
          <a:noFill/>
          <a:ln/>
        </p:spPr>
        <p:txBody>
          <a:bodyPr wrap="square" rtlCol="0" anchor="ctr"/>
          <a:lstStyle/>
          <a:p>
            <a:pPr indent="0" marL="0">
              <a:buNone/>
            </a:pPr>
            <a:r>
              <a:rPr lang="en-US" sz="1200" b="1" dirty="0">
                <a:solidFill>
                  <a:srgbClr val="0096FF"/>
                </a:solidFill>
                <a:latin typeface="Arial" pitchFamily="34" charset="0"/>
                <a:ea typeface="Arial" pitchFamily="34" charset="-122"/>
                <a:cs typeface="Arial" pitchFamily="34" charset="-120"/>
              </a:rPr>
              <a:t>Generic Templates</a:t>
            </a:r>
            <a:endParaRPr lang="en-US" sz="1200" dirty="0"/>
          </a:p>
        </p:txBody>
      </p:sp>
      <p:sp>
        <p:nvSpPr>
          <p:cNvPr id="14" name="Shape 12"/>
          <p:cNvSpPr/>
          <p:nvPr/>
        </p:nvSpPr>
        <p:spPr>
          <a:xfrm>
            <a:off x="731520" y="2926080"/>
            <a:ext cx="2675077" cy="640080"/>
          </a:xfrm>
          <a:prstGeom prst="rect">
            <a:avLst/>
          </a:prstGeom>
          <a:solidFill>
            <a:srgbClr val="0A1128"/>
          </a:solidFill>
          <a:ln w="12700">
            <a:solidFill>
              <a:srgbClr val="1C2541"/>
            </a:solidFill>
            <a:prstDash val="solid"/>
          </a:ln>
        </p:spPr>
      </p:sp>
      <p:sp>
        <p:nvSpPr>
          <p:cNvPr id="15" name="Text 13"/>
          <p:cNvSpPr/>
          <p:nvPr/>
        </p:nvSpPr>
        <p:spPr>
          <a:xfrm>
            <a:off x="822960" y="301752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Pre-Authentication Verification</a:t>
            </a:r>
            <a:endParaRPr lang="en-US" sz="1100" dirty="0"/>
          </a:p>
        </p:txBody>
      </p:sp>
      <p:sp>
        <p:nvSpPr>
          <p:cNvPr id="16" name="Shape 14"/>
          <p:cNvSpPr/>
          <p:nvPr/>
        </p:nvSpPr>
        <p:spPr>
          <a:xfrm>
            <a:off x="3406140" y="2926080"/>
            <a:ext cx="2675077" cy="640080"/>
          </a:xfrm>
          <a:prstGeom prst="rect">
            <a:avLst/>
          </a:prstGeom>
          <a:solidFill>
            <a:srgbClr val="0A1128"/>
          </a:solidFill>
          <a:ln w="12700">
            <a:solidFill>
              <a:srgbClr val="1C2541"/>
            </a:solidFill>
            <a:prstDash val="solid"/>
          </a:ln>
        </p:spPr>
      </p:sp>
      <p:sp>
        <p:nvSpPr>
          <p:cNvPr id="17" name="Text 15"/>
          <p:cNvSpPr/>
          <p:nvPr/>
        </p:nvSpPr>
        <p:spPr>
          <a:xfrm>
            <a:off x="3497580" y="3017520"/>
            <a:ext cx="2492197" cy="457200"/>
          </a:xfrm>
          <a:prstGeom prst="rect">
            <a:avLst/>
          </a:prstGeom>
          <a:noFill/>
          <a:ln/>
        </p:spPr>
        <p:txBody>
          <a:bodyPr wrap="square" rtlCol="0" anchor="ctr"/>
          <a:lstStyle/>
          <a:p>
            <a:pPr indent="0" marL="0">
              <a:buNone/>
            </a:pPr>
            <a:r>
              <a:rPr lang="en-US" sz="1100" b="1" dirty="0">
                <a:solidFill>
                  <a:srgbClr val="00FF88"/>
                </a:solidFill>
                <a:latin typeface="Arial" pitchFamily="34" charset="0"/>
                <a:ea typeface="Arial" pitchFamily="34" charset="-122"/>
                <a:cs typeface="Arial" pitchFamily="34" charset="-120"/>
              </a:rPr>
              <a:t>Mandatory (OTP-based email flow)</a:t>
            </a:r>
            <a:endParaRPr lang="en-US" sz="1100" dirty="0"/>
          </a:p>
        </p:txBody>
      </p:sp>
      <p:sp>
        <p:nvSpPr>
          <p:cNvPr id="18" name="Shape 16"/>
          <p:cNvSpPr/>
          <p:nvPr/>
        </p:nvSpPr>
        <p:spPr>
          <a:xfrm>
            <a:off x="6080760" y="2926080"/>
            <a:ext cx="2675077" cy="640080"/>
          </a:xfrm>
          <a:prstGeom prst="rect">
            <a:avLst/>
          </a:prstGeom>
          <a:solidFill>
            <a:srgbClr val="0A1128"/>
          </a:solidFill>
          <a:ln w="12700">
            <a:solidFill>
              <a:srgbClr val="1C2541"/>
            </a:solidFill>
            <a:prstDash val="solid"/>
          </a:ln>
        </p:spPr>
      </p:sp>
      <p:sp>
        <p:nvSpPr>
          <p:cNvPr id="19" name="Text 17"/>
          <p:cNvSpPr/>
          <p:nvPr/>
        </p:nvSpPr>
        <p:spPr>
          <a:xfrm>
            <a:off x="6172200" y="301752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Often optional or mobile OTP</a:t>
            </a:r>
            <a:endParaRPr lang="en-US" sz="1100" dirty="0"/>
          </a:p>
        </p:txBody>
      </p:sp>
      <p:sp>
        <p:nvSpPr>
          <p:cNvPr id="20" name="Shape 18"/>
          <p:cNvSpPr/>
          <p:nvPr/>
        </p:nvSpPr>
        <p:spPr>
          <a:xfrm>
            <a:off x="8755380" y="2926080"/>
            <a:ext cx="2675077" cy="640080"/>
          </a:xfrm>
          <a:prstGeom prst="rect">
            <a:avLst/>
          </a:prstGeom>
          <a:solidFill>
            <a:srgbClr val="0A1128"/>
          </a:solidFill>
          <a:ln w="12700">
            <a:solidFill>
              <a:srgbClr val="1C2541"/>
            </a:solidFill>
            <a:prstDash val="solid"/>
          </a:ln>
        </p:spPr>
      </p:sp>
      <p:sp>
        <p:nvSpPr>
          <p:cNvPr id="21" name="Text 19"/>
          <p:cNvSpPr/>
          <p:nvPr/>
        </p:nvSpPr>
        <p:spPr>
          <a:xfrm>
            <a:off x="8846820" y="301752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None or post-login</a:t>
            </a:r>
            <a:endParaRPr lang="en-US" sz="1100" dirty="0"/>
          </a:p>
        </p:txBody>
      </p:sp>
      <p:sp>
        <p:nvSpPr>
          <p:cNvPr id="22" name="Shape 20"/>
          <p:cNvSpPr/>
          <p:nvPr/>
        </p:nvSpPr>
        <p:spPr>
          <a:xfrm>
            <a:off x="731520" y="3657600"/>
            <a:ext cx="2675077" cy="640080"/>
          </a:xfrm>
          <a:prstGeom prst="rect">
            <a:avLst/>
          </a:prstGeom>
          <a:solidFill>
            <a:srgbClr val="1C2541"/>
          </a:solidFill>
          <a:ln w="12700">
            <a:solidFill>
              <a:srgbClr val="1C2541"/>
            </a:solidFill>
            <a:prstDash val="solid"/>
          </a:ln>
        </p:spPr>
      </p:sp>
      <p:sp>
        <p:nvSpPr>
          <p:cNvPr id="23" name="Text 21"/>
          <p:cNvSpPr/>
          <p:nvPr/>
        </p:nvSpPr>
        <p:spPr>
          <a:xfrm>
            <a:off x="822960" y="374904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SMTP Fallback Simulator</a:t>
            </a:r>
            <a:endParaRPr lang="en-US" sz="1100" dirty="0"/>
          </a:p>
        </p:txBody>
      </p:sp>
      <p:sp>
        <p:nvSpPr>
          <p:cNvPr id="24" name="Shape 22"/>
          <p:cNvSpPr/>
          <p:nvPr/>
        </p:nvSpPr>
        <p:spPr>
          <a:xfrm>
            <a:off x="3406140" y="3657600"/>
            <a:ext cx="2675077" cy="640080"/>
          </a:xfrm>
          <a:prstGeom prst="rect">
            <a:avLst/>
          </a:prstGeom>
          <a:solidFill>
            <a:srgbClr val="1C2541"/>
          </a:solidFill>
          <a:ln w="12700">
            <a:solidFill>
              <a:srgbClr val="1C2541"/>
            </a:solidFill>
            <a:prstDash val="solid"/>
          </a:ln>
        </p:spPr>
      </p:sp>
      <p:sp>
        <p:nvSpPr>
          <p:cNvPr id="25" name="Text 23"/>
          <p:cNvSpPr/>
          <p:nvPr/>
        </p:nvSpPr>
        <p:spPr>
          <a:xfrm>
            <a:off x="3497580" y="3749040"/>
            <a:ext cx="2492197" cy="457200"/>
          </a:xfrm>
          <a:prstGeom prst="rect">
            <a:avLst/>
          </a:prstGeom>
          <a:noFill/>
          <a:ln/>
        </p:spPr>
        <p:txBody>
          <a:bodyPr wrap="square" rtlCol="0" anchor="ctr"/>
          <a:lstStyle/>
          <a:p>
            <a:pPr indent="0" marL="0">
              <a:buNone/>
            </a:pPr>
            <a:r>
              <a:rPr lang="en-US" sz="1100" b="1" dirty="0">
                <a:solidFill>
                  <a:srgbClr val="00FF88"/>
                </a:solidFill>
                <a:latin typeface="Arial" pitchFamily="34" charset="0"/>
                <a:ea typeface="Arial" pitchFamily="34" charset="-122"/>
                <a:cs typeface="Arial" pitchFamily="34" charset="-120"/>
              </a:rPr>
              <a:t>Yes (auto-fills for offline tests)</a:t>
            </a:r>
            <a:endParaRPr lang="en-US" sz="1100" dirty="0"/>
          </a:p>
        </p:txBody>
      </p:sp>
      <p:sp>
        <p:nvSpPr>
          <p:cNvPr id="26" name="Shape 24"/>
          <p:cNvSpPr/>
          <p:nvPr/>
        </p:nvSpPr>
        <p:spPr>
          <a:xfrm>
            <a:off x="6080760" y="3657600"/>
            <a:ext cx="2675077" cy="640080"/>
          </a:xfrm>
          <a:prstGeom prst="rect">
            <a:avLst/>
          </a:prstGeom>
          <a:solidFill>
            <a:srgbClr val="1C2541"/>
          </a:solidFill>
          <a:ln w="12700">
            <a:solidFill>
              <a:srgbClr val="1C2541"/>
            </a:solidFill>
            <a:prstDash val="solid"/>
          </a:ln>
        </p:spPr>
      </p:sp>
      <p:sp>
        <p:nvSpPr>
          <p:cNvPr id="27" name="Text 25"/>
          <p:cNvSpPr/>
          <p:nvPr/>
        </p:nvSpPr>
        <p:spPr>
          <a:xfrm>
            <a:off x="6172200" y="374904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No (will fail if service is offline)</a:t>
            </a:r>
            <a:endParaRPr lang="en-US" sz="1100" dirty="0"/>
          </a:p>
        </p:txBody>
      </p:sp>
      <p:sp>
        <p:nvSpPr>
          <p:cNvPr id="28" name="Shape 26"/>
          <p:cNvSpPr/>
          <p:nvPr/>
        </p:nvSpPr>
        <p:spPr>
          <a:xfrm>
            <a:off x="8755380" y="3657600"/>
            <a:ext cx="2675077" cy="640080"/>
          </a:xfrm>
          <a:prstGeom prst="rect">
            <a:avLst/>
          </a:prstGeom>
          <a:solidFill>
            <a:srgbClr val="1C2541"/>
          </a:solidFill>
          <a:ln w="12700">
            <a:solidFill>
              <a:srgbClr val="1C2541"/>
            </a:solidFill>
            <a:prstDash val="solid"/>
          </a:ln>
        </p:spPr>
      </p:sp>
      <p:sp>
        <p:nvSpPr>
          <p:cNvPr id="29" name="Text 27"/>
          <p:cNvSpPr/>
          <p:nvPr/>
        </p:nvSpPr>
        <p:spPr>
          <a:xfrm>
            <a:off x="8846820" y="374904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No</a:t>
            </a:r>
            <a:endParaRPr lang="en-US" sz="1100" dirty="0"/>
          </a:p>
        </p:txBody>
      </p:sp>
      <p:sp>
        <p:nvSpPr>
          <p:cNvPr id="30" name="Shape 28"/>
          <p:cNvSpPr/>
          <p:nvPr/>
        </p:nvSpPr>
        <p:spPr>
          <a:xfrm>
            <a:off x="731520" y="4389120"/>
            <a:ext cx="2675077" cy="640080"/>
          </a:xfrm>
          <a:prstGeom prst="rect">
            <a:avLst/>
          </a:prstGeom>
          <a:solidFill>
            <a:srgbClr val="0A1128"/>
          </a:solidFill>
          <a:ln w="12700">
            <a:solidFill>
              <a:srgbClr val="1C2541"/>
            </a:solidFill>
            <a:prstDash val="solid"/>
          </a:ln>
        </p:spPr>
      </p:sp>
      <p:sp>
        <p:nvSpPr>
          <p:cNvPr id="31" name="Text 29"/>
          <p:cNvSpPr/>
          <p:nvPr/>
        </p:nvSpPr>
        <p:spPr>
          <a:xfrm>
            <a:off x="822960" y="448056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Domain Support</a:t>
            </a:r>
            <a:endParaRPr lang="en-US" sz="1100" dirty="0"/>
          </a:p>
        </p:txBody>
      </p:sp>
      <p:sp>
        <p:nvSpPr>
          <p:cNvPr id="32" name="Shape 30"/>
          <p:cNvSpPr/>
          <p:nvPr/>
        </p:nvSpPr>
        <p:spPr>
          <a:xfrm>
            <a:off x="3406140" y="4389120"/>
            <a:ext cx="2675077" cy="640080"/>
          </a:xfrm>
          <a:prstGeom prst="rect">
            <a:avLst/>
          </a:prstGeom>
          <a:solidFill>
            <a:srgbClr val="0A1128"/>
          </a:solidFill>
          <a:ln w="12700">
            <a:solidFill>
              <a:srgbClr val="1C2541"/>
            </a:solidFill>
            <a:prstDash val="solid"/>
          </a:ln>
        </p:spPr>
      </p:sp>
      <p:sp>
        <p:nvSpPr>
          <p:cNvPr id="33" name="Text 31"/>
          <p:cNvSpPr/>
          <p:nvPr/>
        </p:nvSpPr>
        <p:spPr>
          <a:xfrm>
            <a:off x="3497580" y="4480560"/>
            <a:ext cx="2492197" cy="457200"/>
          </a:xfrm>
          <a:prstGeom prst="rect">
            <a:avLst/>
          </a:prstGeom>
          <a:noFill/>
          <a:ln/>
        </p:spPr>
        <p:txBody>
          <a:bodyPr wrap="square" rtlCol="0" anchor="ctr"/>
          <a:lstStyle/>
          <a:p>
            <a:pPr indent="0" marL="0">
              <a:buNone/>
            </a:pPr>
            <a:r>
              <a:rPr lang="en-US" sz="1100" b="1" dirty="0">
                <a:solidFill>
                  <a:srgbClr val="00FF88"/>
                </a:solidFill>
                <a:latin typeface="Arial" pitchFamily="34" charset="0"/>
                <a:ea typeface="Arial" pitchFamily="34" charset="-122"/>
                <a:cs typeface="Arial" pitchFamily="34" charset="-120"/>
              </a:rPr>
              <a:t>Generic (All valid formats)</a:t>
            </a:r>
            <a:endParaRPr lang="en-US" sz="1100" dirty="0"/>
          </a:p>
        </p:txBody>
      </p:sp>
      <p:sp>
        <p:nvSpPr>
          <p:cNvPr id="34" name="Shape 32"/>
          <p:cNvSpPr/>
          <p:nvPr/>
        </p:nvSpPr>
        <p:spPr>
          <a:xfrm>
            <a:off x="6080760" y="4389120"/>
            <a:ext cx="2675077" cy="640080"/>
          </a:xfrm>
          <a:prstGeom prst="rect">
            <a:avLst/>
          </a:prstGeom>
          <a:solidFill>
            <a:srgbClr val="0A1128"/>
          </a:solidFill>
          <a:ln w="12700">
            <a:solidFill>
              <a:srgbClr val="1C2541"/>
            </a:solidFill>
            <a:prstDash val="solid"/>
          </a:ln>
        </p:spPr>
      </p:sp>
      <p:sp>
        <p:nvSpPr>
          <p:cNvPr id="35" name="Text 33"/>
          <p:cNvSpPr/>
          <p:nvPr/>
        </p:nvSpPr>
        <p:spPr>
          <a:xfrm>
            <a:off x="6172200" y="448056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Often restrictive signup</a:t>
            </a:r>
            <a:endParaRPr lang="en-US" sz="1100" dirty="0"/>
          </a:p>
        </p:txBody>
      </p:sp>
      <p:sp>
        <p:nvSpPr>
          <p:cNvPr id="36" name="Shape 34"/>
          <p:cNvSpPr/>
          <p:nvPr/>
        </p:nvSpPr>
        <p:spPr>
          <a:xfrm>
            <a:off x="8755380" y="4389120"/>
            <a:ext cx="2675077" cy="640080"/>
          </a:xfrm>
          <a:prstGeom prst="rect">
            <a:avLst/>
          </a:prstGeom>
          <a:solidFill>
            <a:srgbClr val="0A1128"/>
          </a:solidFill>
          <a:ln w="12700">
            <a:solidFill>
              <a:srgbClr val="1C2541"/>
            </a:solidFill>
            <a:prstDash val="solid"/>
          </a:ln>
        </p:spPr>
      </p:sp>
      <p:sp>
        <p:nvSpPr>
          <p:cNvPr id="37" name="Text 35"/>
          <p:cNvSpPr/>
          <p:nvPr/>
        </p:nvSpPr>
        <p:spPr>
          <a:xfrm>
            <a:off x="8846820" y="448056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Custom hardcoding</a:t>
            </a:r>
            <a:endParaRPr lang="en-US" sz="1100" dirty="0"/>
          </a:p>
        </p:txBody>
      </p:sp>
      <p:sp>
        <p:nvSpPr>
          <p:cNvPr id="38" name="Shape 36"/>
          <p:cNvSpPr/>
          <p:nvPr/>
        </p:nvSpPr>
        <p:spPr>
          <a:xfrm>
            <a:off x="731520" y="5120640"/>
            <a:ext cx="2675077" cy="640080"/>
          </a:xfrm>
          <a:prstGeom prst="rect">
            <a:avLst/>
          </a:prstGeom>
          <a:solidFill>
            <a:srgbClr val="1C2541"/>
          </a:solidFill>
          <a:ln w="12700">
            <a:solidFill>
              <a:srgbClr val="1C2541"/>
            </a:solidFill>
            <a:prstDash val="solid"/>
          </a:ln>
        </p:spPr>
      </p:sp>
      <p:sp>
        <p:nvSpPr>
          <p:cNvPr id="39" name="Text 37"/>
          <p:cNvSpPr/>
          <p:nvPr/>
        </p:nvSpPr>
        <p:spPr>
          <a:xfrm>
            <a:off x="822960" y="521208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Payment Integration</a:t>
            </a:r>
            <a:endParaRPr lang="en-US" sz="1100" dirty="0"/>
          </a:p>
        </p:txBody>
      </p:sp>
      <p:sp>
        <p:nvSpPr>
          <p:cNvPr id="40" name="Shape 38"/>
          <p:cNvSpPr/>
          <p:nvPr/>
        </p:nvSpPr>
        <p:spPr>
          <a:xfrm>
            <a:off x="3406140" y="5120640"/>
            <a:ext cx="2675077" cy="640080"/>
          </a:xfrm>
          <a:prstGeom prst="rect">
            <a:avLst/>
          </a:prstGeom>
          <a:solidFill>
            <a:srgbClr val="1C2541"/>
          </a:solidFill>
          <a:ln w="12700">
            <a:solidFill>
              <a:srgbClr val="1C2541"/>
            </a:solidFill>
            <a:prstDash val="solid"/>
          </a:ln>
        </p:spPr>
      </p:sp>
      <p:sp>
        <p:nvSpPr>
          <p:cNvPr id="41" name="Text 39"/>
          <p:cNvSpPr/>
          <p:nvPr/>
        </p:nvSpPr>
        <p:spPr>
          <a:xfrm>
            <a:off x="3497580" y="5212080"/>
            <a:ext cx="2492197" cy="457200"/>
          </a:xfrm>
          <a:prstGeom prst="rect">
            <a:avLst/>
          </a:prstGeom>
          <a:noFill/>
          <a:ln/>
        </p:spPr>
        <p:txBody>
          <a:bodyPr wrap="square" rtlCol="0" anchor="ctr"/>
          <a:lstStyle/>
          <a:p>
            <a:pPr indent="0" marL="0">
              <a:buNone/>
            </a:pPr>
            <a:r>
              <a:rPr lang="en-US" sz="1100" b="1" dirty="0">
                <a:solidFill>
                  <a:srgbClr val="00FF88"/>
                </a:solidFill>
                <a:latin typeface="Arial" pitchFamily="34" charset="0"/>
                <a:ea typeface="Arial" pitchFamily="34" charset="-122"/>
                <a:cs typeface="Arial" pitchFamily="34" charset="-120"/>
              </a:rPr>
              <a:t>Mock Payment checkout &amp; booking states</a:t>
            </a:r>
            <a:endParaRPr lang="en-US" sz="1100" dirty="0"/>
          </a:p>
        </p:txBody>
      </p:sp>
      <p:sp>
        <p:nvSpPr>
          <p:cNvPr id="42" name="Shape 40"/>
          <p:cNvSpPr/>
          <p:nvPr/>
        </p:nvSpPr>
        <p:spPr>
          <a:xfrm>
            <a:off x="6080760" y="5120640"/>
            <a:ext cx="2675077" cy="640080"/>
          </a:xfrm>
          <a:prstGeom prst="rect">
            <a:avLst/>
          </a:prstGeom>
          <a:solidFill>
            <a:srgbClr val="1C2541"/>
          </a:solidFill>
          <a:ln w="12700">
            <a:solidFill>
              <a:srgbClr val="1C2541"/>
            </a:solidFill>
            <a:prstDash val="solid"/>
          </a:ln>
        </p:spPr>
      </p:sp>
      <p:sp>
        <p:nvSpPr>
          <p:cNvPr id="43" name="Text 41"/>
          <p:cNvSpPr/>
          <p:nvPr/>
        </p:nvSpPr>
        <p:spPr>
          <a:xfrm>
            <a:off x="6172200" y="521208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External gateways only</a:t>
            </a:r>
            <a:endParaRPr lang="en-US" sz="1100" dirty="0"/>
          </a:p>
        </p:txBody>
      </p:sp>
      <p:sp>
        <p:nvSpPr>
          <p:cNvPr id="44" name="Shape 42"/>
          <p:cNvSpPr/>
          <p:nvPr/>
        </p:nvSpPr>
        <p:spPr>
          <a:xfrm>
            <a:off x="8755380" y="5120640"/>
            <a:ext cx="2675077" cy="640080"/>
          </a:xfrm>
          <a:prstGeom prst="rect">
            <a:avLst/>
          </a:prstGeom>
          <a:solidFill>
            <a:srgbClr val="1C2541"/>
          </a:solidFill>
          <a:ln w="12700">
            <a:solidFill>
              <a:srgbClr val="1C2541"/>
            </a:solidFill>
            <a:prstDash val="solid"/>
          </a:ln>
        </p:spPr>
      </p:sp>
      <p:sp>
        <p:nvSpPr>
          <p:cNvPr id="45" name="Text 43"/>
          <p:cNvSpPr/>
          <p:nvPr/>
        </p:nvSpPr>
        <p:spPr>
          <a:xfrm>
            <a:off x="8846820" y="5212080"/>
            <a:ext cx="2492197" cy="457200"/>
          </a:xfrm>
          <a:prstGeom prst="rect">
            <a:avLst/>
          </a:prstGeom>
          <a:noFill/>
          <a:ln/>
        </p:spPr>
        <p:txBody>
          <a:bodyPr wrap="square" rtlCol="0" anchor="ctr"/>
          <a:lstStyle/>
          <a:p>
            <a:pPr indent="0" marL="0">
              <a:buNone/>
            </a:pPr>
            <a:r>
              <a:rPr lang="en-US" sz="1100" dirty="0">
                <a:solidFill>
                  <a:srgbClr val="F0F4F8"/>
                </a:solidFill>
                <a:latin typeface="Arial" pitchFamily="34" charset="0"/>
                <a:ea typeface="Arial" pitchFamily="34" charset="-122"/>
                <a:cs typeface="Arial" pitchFamily="34" charset="-120"/>
              </a:rPr>
              <a:t>Static booking cards</a:t>
            </a:r>
            <a:endParaRPr lang="en-US" sz="11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A1128"/>
        </a:solidFill>
      </p:bgPr>
    </p:bg>
    <p:spTree>
      <p:nvGrpSpPr>
        <p:cNvPr id="1" name=""/>
        <p:cNvGrpSpPr/>
        <p:nvPr/>
      </p:nvGrpSpPr>
      <p:grpSpPr>
        <a:xfrm>
          <a:off x="0" y="0"/>
          <a:ext cx="0" cy="0"/>
          <a:chOff x="0" y="0"/>
          <a:chExt cx="0" cy="0"/>
        </a:xfrm>
      </p:grpSpPr>
      <p:sp>
        <p:nvSpPr>
          <p:cNvPr id="2" name="Text 0"/>
          <p:cNvSpPr/>
          <p:nvPr/>
        </p:nvSpPr>
        <p:spPr>
          <a:xfrm>
            <a:off x="731520" y="457200"/>
            <a:ext cx="10515600" cy="731520"/>
          </a:xfrm>
          <a:prstGeom prst="rect">
            <a:avLst/>
          </a:prstGeom>
          <a:noFill/>
          <a:ln/>
        </p:spPr>
        <p:txBody>
          <a:bodyPr wrap="square" rtlCol="0" anchor="ctr"/>
          <a:lstStyle/>
          <a:p>
            <a:pPr indent="0" marL="0">
              <a:buNone/>
            </a:pPr>
            <a:r>
              <a:rPr lang="en-US" sz="3200" b="1" dirty="0">
                <a:solidFill>
                  <a:srgbClr val="00FF88"/>
                </a:solidFill>
                <a:latin typeface="Arial" pitchFamily="34" charset="0"/>
                <a:ea typeface="Arial" pitchFamily="34" charset="-122"/>
                <a:cs typeface="Arial" pitchFamily="34" charset="-120"/>
              </a:rPr>
              <a:t>Future Scope</a:t>
            </a:r>
            <a:endParaRPr lang="en-US" sz="3200" dirty="0"/>
          </a:p>
        </p:txBody>
      </p:sp>
      <p:sp>
        <p:nvSpPr>
          <p:cNvPr id="3" name="Shape 1"/>
          <p:cNvSpPr/>
          <p:nvPr/>
        </p:nvSpPr>
        <p:spPr>
          <a:xfrm>
            <a:off x="731520" y="1188720"/>
            <a:ext cx="3657600" cy="36576"/>
          </a:xfrm>
          <a:prstGeom prst="rect">
            <a:avLst/>
          </a:prstGeom>
          <a:solidFill>
            <a:srgbClr val="0096FF"/>
          </a:solidFill>
          <a:ln/>
        </p:spPr>
      </p:sp>
      <p:sp>
        <p:nvSpPr>
          <p:cNvPr id="4" name="Shape 2"/>
          <p:cNvSpPr/>
          <p:nvPr/>
        </p:nvSpPr>
        <p:spPr>
          <a:xfrm>
            <a:off x="731520" y="1828800"/>
            <a:ext cx="5120640" cy="1554480"/>
          </a:xfrm>
          <a:prstGeom prst="rect">
            <a:avLst/>
          </a:prstGeom>
          <a:solidFill>
            <a:srgbClr val="1C2541"/>
          </a:solidFill>
          <a:ln w="19050">
            <a:solidFill>
              <a:srgbClr val="0096FF"/>
            </a:solidFill>
            <a:prstDash val="solid"/>
          </a:ln>
        </p:spPr>
      </p:sp>
      <p:sp>
        <p:nvSpPr>
          <p:cNvPr id="5" name="Shape 3"/>
          <p:cNvSpPr/>
          <p:nvPr/>
        </p:nvSpPr>
        <p:spPr>
          <a:xfrm>
            <a:off x="731520" y="1828800"/>
            <a:ext cx="91440" cy="1554480"/>
          </a:xfrm>
          <a:prstGeom prst="rect">
            <a:avLst/>
          </a:prstGeom>
          <a:solidFill>
            <a:srgbClr val="00FF88"/>
          </a:solidFill>
          <a:ln/>
        </p:spPr>
      </p:sp>
      <p:sp>
        <p:nvSpPr>
          <p:cNvPr id="6" name="Text 4"/>
          <p:cNvSpPr/>
          <p:nvPr/>
        </p:nvSpPr>
        <p:spPr>
          <a:xfrm>
            <a:off x="1005840" y="2011680"/>
            <a:ext cx="4572000" cy="320040"/>
          </a:xfrm>
          <a:prstGeom prst="rect">
            <a:avLst/>
          </a:prstGeom>
          <a:noFill/>
          <a:ln/>
        </p:spPr>
        <p:txBody>
          <a:bodyPr wrap="square" rtlCol="0" anchor="ctr"/>
          <a:lstStyle/>
          <a:p>
            <a:pPr indent="0" marL="0">
              <a:buNone/>
            </a:pPr>
            <a:r>
              <a:rPr lang="en-US" sz="1600" b="1" dirty="0">
                <a:solidFill>
                  <a:srgbClr val="00FF88"/>
                </a:solidFill>
                <a:latin typeface="Arial" pitchFamily="34" charset="0"/>
                <a:ea typeface="Arial" pitchFamily="34" charset="-122"/>
                <a:cs typeface="Arial" pitchFamily="34" charset="-120"/>
              </a:rPr>
              <a:t>Gateway Integrations</a:t>
            </a:r>
            <a:endParaRPr lang="en-US" sz="1600" dirty="0"/>
          </a:p>
        </p:txBody>
      </p:sp>
      <p:sp>
        <p:nvSpPr>
          <p:cNvPr id="7" name="Text 5"/>
          <p:cNvSpPr/>
          <p:nvPr/>
        </p:nvSpPr>
        <p:spPr>
          <a:xfrm>
            <a:off x="1005840" y="2423160"/>
            <a:ext cx="4572000" cy="822960"/>
          </a:xfrm>
          <a:prstGeom prst="rect">
            <a:avLst/>
          </a:prstGeom>
          <a:noFill/>
          <a:ln/>
        </p:spPr>
        <p:txBody>
          <a:bodyPr wrap="square" rtlCol="0" anchor="ctr"/>
          <a:lstStyle/>
          <a:p>
            <a:pPr indent="0" marL="0">
              <a:buNone/>
            </a:pPr>
            <a:r>
              <a:rPr lang="en-US" sz="1200" dirty="0">
                <a:solidFill>
                  <a:srgbClr val="A0AABF"/>
                </a:solidFill>
                <a:latin typeface="Arial" pitchFamily="34" charset="0"/>
                <a:ea typeface="Arial" pitchFamily="34" charset="-122"/>
                <a:cs typeface="Arial" pitchFamily="34" charset="-120"/>
              </a:rPr>
              <a:t>Production checkout integrations using fully verified live Stripe, Razorpay, or PayPal gateways.</a:t>
            </a:r>
            <a:endParaRPr lang="en-US" sz="1200" dirty="0"/>
          </a:p>
        </p:txBody>
      </p:sp>
      <p:sp>
        <p:nvSpPr>
          <p:cNvPr id="8" name="Shape 6"/>
          <p:cNvSpPr/>
          <p:nvPr/>
        </p:nvSpPr>
        <p:spPr>
          <a:xfrm>
            <a:off x="6126480" y="1828800"/>
            <a:ext cx="5120640" cy="1554480"/>
          </a:xfrm>
          <a:prstGeom prst="rect">
            <a:avLst/>
          </a:prstGeom>
          <a:solidFill>
            <a:srgbClr val="1C2541"/>
          </a:solidFill>
          <a:ln w="19050">
            <a:solidFill>
              <a:srgbClr val="0096FF"/>
            </a:solidFill>
            <a:prstDash val="solid"/>
          </a:ln>
        </p:spPr>
      </p:sp>
      <p:sp>
        <p:nvSpPr>
          <p:cNvPr id="9" name="Shape 7"/>
          <p:cNvSpPr/>
          <p:nvPr/>
        </p:nvSpPr>
        <p:spPr>
          <a:xfrm>
            <a:off x="6126480" y="1828800"/>
            <a:ext cx="91440" cy="1554480"/>
          </a:xfrm>
          <a:prstGeom prst="rect">
            <a:avLst/>
          </a:prstGeom>
          <a:solidFill>
            <a:srgbClr val="00FF88"/>
          </a:solidFill>
          <a:ln/>
        </p:spPr>
      </p:sp>
      <p:sp>
        <p:nvSpPr>
          <p:cNvPr id="10" name="Text 8"/>
          <p:cNvSpPr/>
          <p:nvPr/>
        </p:nvSpPr>
        <p:spPr>
          <a:xfrm>
            <a:off x="6400800" y="2011680"/>
            <a:ext cx="4572000" cy="320040"/>
          </a:xfrm>
          <a:prstGeom prst="rect">
            <a:avLst/>
          </a:prstGeom>
          <a:noFill/>
          <a:ln/>
        </p:spPr>
        <p:txBody>
          <a:bodyPr wrap="square" rtlCol="0" anchor="ctr"/>
          <a:lstStyle/>
          <a:p>
            <a:pPr indent="0" marL="0">
              <a:buNone/>
            </a:pPr>
            <a:r>
              <a:rPr lang="en-US" sz="1600" b="1" dirty="0">
                <a:solidFill>
                  <a:srgbClr val="00FF88"/>
                </a:solidFill>
                <a:latin typeface="Arial" pitchFamily="34" charset="0"/>
                <a:ea typeface="Arial" pitchFamily="34" charset="-122"/>
                <a:cs typeface="Arial" pitchFamily="34" charset="-120"/>
              </a:rPr>
              <a:t>Interactive Map Routing</a:t>
            </a:r>
            <a:endParaRPr lang="en-US" sz="1600" dirty="0"/>
          </a:p>
        </p:txBody>
      </p:sp>
      <p:sp>
        <p:nvSpPr>
          <p:cNvPr id="11" name="Text 9"/>
          <p:cNvSpPr/>
          <p:nvPr/>
        </p:nvSpPr>
        <p:spPr>
          <a:xfrm>
            <a:off x="6400800" y="2423160"/>
            <a:ext cx="4572000" cy="822960"/>
          </a:xfrm>
          <a:prstGeom prst="rect">
            <a:avLst/>
          </a:prstGeom>
          <a:noFill/>
          <a:ln/>
        </p:spPr>
        <p:txBody>
          <a:bodyPr wrap="square" rtlCol="0" anchor="ctr"/>
          <a:lstStyle/>
          <a:p>
            <a:pPr indent="0" marL="0">
              <a:buNone/>
            </a:pPr>
            <a:r>
              <a:rPr lang="en-US" sz="1200" dirty="0">
                <a:solidFill>
                  <a:srgbClr val="A0AABF"/>
                </a:solidFill>
                <a:latin typeface="Arial" pitchFamily="34" charset="0"/>
                <a:ea typeface="Arial" pitchFamily="34" charset="-122"/>
                <a:cs typeface="Arial" pitchFamily="34" charset="-120"/>
              </a:rPr>
              <a:t>Locating nearest turfs via Google Maps API geolocation, displaying routing and travel duration.</a:t>
            </a:r>
            <a:endParaRPr lang="en-US" sz="1200" dirty="0"/>
          </a:p>
        </p:txBody>
      </p:sp>
      <p:sp>
        <p:nvSpPr>
          <p:cNvPr id="12" name="Shape 10"/>
          <p:cNvSpPr/>
          <p:nvPr/>
        </p:nvSpPr>
        <p:spPr>
          <a:xfrm>
            <a:off x="731520" y="3657600"/>
            <a:ext cx="5120640" cy="1554480"/>
          </a:xfrm>
          <a:prstGeom prst="rect">
            <a:avLst/>
          </a:prstGeom>
          <a:solidFill>
            <a:srgbClr val="1C2541"/>
          </a:solidFill>
          <a:ln w="19050">
            <a:solidFill>
              <a:srgbClr val="0096FF"/>
            </a:solidFill>
            <a:prstDash val="solid"/>
          </a:ln>
        </p:spPr>
      </p:sp>
      <p:sp>
        <p:nvSpPr>
          <p:cNvPr id="13" name="Shape 11"/>
          <p:cNvSpPr/>
          <p:nvPr/>
        </p:nvSpPr>
        <p:spPr>
          <a:xfrm>
            <a:off x="731520" y="3657600"/>
            <a:ext cx="91440" cy="1554480"/>
          </a:xfrm>
          <a:prstGeom prst="rect">
            <a:avLst/>
          </a:prstGeom>
          <a:solidFill>
            <a:srgbClr val="00FF88"/>
          </a:solidFill>
          <a:ln/>
        </p:spPr>
      </p:sp>
      <p:sp>
        <p:nvSpPr>
          <p:cNvPr id="14" name="Text 12"/>
          <p:cNvSpPr/>
          <p:nvPr/>
        </p:nvSpPr>
        <p:spPr>
          <a:xfrm>
            <a:off x="1005840" y="3840480"/>
            <a:ext cx="4572000" cy="320040"/>
          </a:xfrm>
          <a:prstGeom prst="rect">
            <a:avLst/>
          </a:prstGeom>
          <a:noFill/>
          <a:ln/>
        </p:spPr>
        <p:txBody>
          <a:bodyPr wrap="square" rtlCol="0" anchor="ctr"/>
          <a:lstStyle/>
          <a:p>
            <a:pPr indent="0" marL="0">
              <a:buNone/>
            </a:pPr>
            <a:r>
              <a:rPr lang="en-US" sz="1600" b="1" dirty="0">
                <a:solidFill>
                  <a:srgbClr val="00FF88"/>
                </a:solidFill>
                <a:latin typeface="Arial" pitchFamily="34" charset="0"/>
                <a:ea typeface="Arial" pitchFamily="34" charset="-122"/>
                <a:cs typeface="Arial" pitchFamily="34" charset="-120"/>
              </a:rPr>
              <a:t>Analytics &amp; Owner Portal</a:t>
            </a:r>
            <a:endParaRPr lang="en-US" sz="1600" dirty="0"/>
          </a:p>
        </p:txBody>
      </p:sp>
      <p:sp>
        <p:nvSpPr>
          <p:cNvPr id="15" name="Text 13"/>
          <p:cNvSpPr/>
          <p:nvPr/>
        </p:nvSpPr>
        <p:spPr>
          <a:xfrm>
            <a:off x="1005840" y="4251960"/>
            <a:ext cx="4572000" cy="822960"/>
          </a:xfrm>
          <a:prstGeom prst="rect">
            <a:avLst/>
          </a:prstGeom>
          <a:noFill/>
          <a:ln/>
        </p:spPr>
        <p:txBody>
          <a:bodyPr wrap="square" rtlCol="0" anchor="ctr"/>
          <a:lstStyle/>
          <a:p>
            <a:pPr indent="0" marL="0">
              <a:buNone/>
            </a:pPr>
            <a:r>
              <a:rPr lang="en-US" sz="1200" dirty="0">
                <a:solidFill>
                  <a:srgbClr val="A0AABF"/>
                </a:solidFill>
                <a:latin typeface="Arial" pitchFamily="34" charset="0"/>
                <a:ea typeface="Arial" pitchFamily="34" charset="-122"/>
                <a:cs typeface="Arial" pitchFamily="34" charset="-120"/>
              </a:rPr>
              <a:t>Interactive charts showing booking trends, slot usage patterns, revenue summaries, and dashboard graphs.</a:t>
            </a:r>
            <a:endParaRPr lang="en-US" sz="1200" dirty="0"/>
          </a:p>
        </p:txBody>
      </p:sp>
      <p:sp>
        <p:nvSpPr>
          <p:cNvPr id="16" name="Shape 14"/>
          <p:cNvSpPr/>
          <p:nvPr/>
        </p:nvSpPr>
        <p:spPr>
          <a:xfrm>
            <a:off x="6126480" y="3657600"/>
            <a:ext cx="5120640" cy="1554480"/>
          </a:xfrm>
          <a:prstGeom prst="rect">
            <a:avLst/>
          </a:prstGeom>
          <a:solidFill>
            <a:srgbClr val="1C2541"/>
          </a:solidFill>
          <a:ln w="19050">
            <a:solidFill>
              <a:srgbClr val="0096FF"/>
            </a:solidFill>
            <a:prstDash val="solid"/>
          </a:ln>
        </p:spPr>
      </p:sp>
      <p:sp>
        <p:nvSpPr>
          <p:cNvPr id="17" name="Shape 15"/>
          <p:cNvSpPr/>
          <p:nvPr/>
        </p:nvSpPr>
        <p:spPr>
          <a:xfrm>
            <a:off x="6126480" y="3657600"/>
            <a:ext cx="91440" cy="1554480"/>
          </a:xfrm>
          <a:prstGeom prst="rect">
            <a:avLst/>
          </a:prstGeom>
          <a:solidFill>
            <a:srgbClr val="00FF88"/>
          </a:solidFill>
          <a:ln/>
        </p:spPr>
      </p:sp>
      <p:sp>
        <p:nvSpPr>
          <p:cNvPr id="18" name="Text 16"/>
          <p:cNvSpPr/>
          <p:nvPr/>
        </p:nvSpPr>
        <p:spPr>
          <a:xfrm>
            <a:off x="6400800" y="3840480"/>
            <a:ext cx="4572000" cy="320040"/>
          </a:xfrm>
          <a:prstGeom prst="rect">
            <a:avLst/>
          </a:prstGeom>
          <a:noFill/>
          <a:ln/>
        </p:spPr>
        <p:txBody>
          <a:bodyPr wrap="square" rtlCol="0" anchor="ctr"/>
          <a:lstStyle/>
          <a:p>
            <a:pPr indent="0" marL="0">
              <a:buNone/>
            </a:pPr>
            <a:r>
              <a:rPr lang="en-US" sz="1600" b="1" dirty="0">
                <a:solidFill>
                  <a:srgbClr val="00FF88"/>
                </a:solidFill>
                <a:latin typeface="Arial" pitchFamily="34" charset="0"/>
                <a:ea typeface="Arial" pitchFamily="34" charset="-122"/>
                <a:cs typeface="Arial" pitchFamily="34" charset="-120"/>
              </a:rPr>
              <a:t>Dynamic Pricing AI</a:t>
            </a:r>
            <a:endParaRPr lang="en-US" sz="1600" dirty="0"/>
          </a:p>
        </p:txBody>
      </p:sp>
      <p:sp>
        <p:nvSpPr>
          <p:cNvPr id="19" name="Text 17"/>
          <p:cNvSpPr/>
          <p:nvPr/>
        </p:nvSpPr>
        <p:spPr>
          <a:xfrm>
            <a:off x="6400800" y="4251960"/>
            <a:ext cx="4572000" cy="822960"/>
          </a:xfrm>
          <a:prstGeom prst="rect">
            <a:avLst/>
          </a:prstGeom>
          <a:noFill/>
          <a:ln/>
        </p:spPr>
        <p:txBody>
          <a:bodyPr wrap="square" rtlCol="0" anchor="ctr"/>
          <a:lstStyle/>
          <a:p>
            <a:pPr indent="0" marL="0">
              <a:buNone/>
            </a:pPr>
            <a:r>
              <a:rPr lang="en-US" sz="1200" dirty="0">
                <a:solidFill>
                  <a:srgbClr val="A0AABF"/>
                </a:solidFill>
                <a:latin typeface="Arial" pitchFamily="34" charset="0"/>
                <a:ea typeface="Arial" pitchFamily="34" charset="-122"/>
                <a:cs typeface="Arial" pitchFamily="34" charset="-120"/>
              </a:rPr>
              <a:t>Algorithm adjusts pricing based on demand, weather, and peak time schedules to optimize turf revenue.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0A1128"/>
        </a:solidFill>
      </p:bgPr>
    </p:bg>
    <p:spTree>
      <p:nvGrpSpPr>
        <p:cNvPr id="1" name=""/>
        <p:cNvGrpSpPr/>
        <p:nvPr/>
      </p:nvGrpSpPr>
      <p:grpSpPr>
        <a:xfrm>
          <a:off x="0" y="0"/>
          <a:ext cx="0" cy="0"/>
          <a:chOff x="0" y="0"/>
          <a:chExt cx="0" cy="0"/>
        </a:xfrm>
      </p:grpSpPr>
      <p:sp>
        <p:nvSpPr>
          <p:cNvPr id="2" name="Shape 0"/>
          <p:cNvSpPr/>
          <p:nvPr/>
        </p:nvSpPr>
        <p:spPr>
          <a:xfrm>
            <a:off x="731520" y="1371600"/>
            <a:ext cx="10698480" cy="3840480"/>
          </a:xfrm>
          <a:prstGeom prst="rect">
            <a:avLst/>
          </a:prstGeom>
          <a:solidFill>
            <a:srgbClr val="1C2541"/>
          </a:solidFill>
          <a:ln w="25400">
            <a:solidFill>
              <a:srgbClr val="00FF88"/>
            </a:solidFill>
            <a:prstDash val="solid"/>
          </a:ln>
        </p:spPr>
      </p:sp>
      <p:sp>
        <p:nvSpPr>
          <p:cNvPr id="3" name="Text 1"/>
          <p:cNvSpPr/>
          <p:nvPr/>
        </p:nvSpPr>
        <p:spPr>
          <a:xfrm>
            <a:off x="1097280" y="2011680"/>
            <a:ext cx="10058400" cy="731520"/>
          </a:xfrm>
          <a:prstGeom prst="rect">
            <a:avLst/>
          </a:prstGeom>
          <a:noFill/>
          <a:ln/>
        </p:spPr>
        <p:txBody>
          <a:bodyPr wrap="square" rtlCol="0" anchor="ctr"/>
          <a:lstStyle/>
          <a:p>
            <a:pPr algn="ctr" indent="0" marL="0">
              <a:buNone/>
            </a:pPr>
            <a:r>
              <a:rPr lang="en-US" sz="5400" b="1" dirty="0">
                <a:solidFill>
                  <a:srgbClr val="00FF88"/>
                </a:solidFill>
                <a:latin typeface="Arial" pitchFamily="34" charset="0"/>
                <a:ea typeface="Arial" pitchFamily="34" charset="-122"/>
                <a:cs typeface="Arial" pitchFamily="34" charset="-120"/>
              </a:rPr>
              <a:t>THANK YOU</a:t>
            </a:r>
            <a:endParaRPr lang="en-US" sz="5400" dirty="0"/>
          </a:p>
        </p:txBody>
      </p:sp>
      <p:sp>
        <p:nvSpPr>
          <p:cNvPr id="4" name="Text 2"/>
          <p:cNvSpPr/>
          <p:nvPr/>
        </p:nvSpPr>
        <p:spPr>
          <a:xfrm>
            <a:off x="1097280" y="2926080"/>
            <a:ext cx="10058400" cy="365760"/>
          </a:xfrm>
          <a:prstGeom prst="rect">
            <a:avLst/>
          </a:prstGeom>
          <a:noFill/>
          <a:ln/>
        </p:spPr>
        <p:txBody>
          <a:bodyPr wrap="square" rtlCol="0" anchor="ctr"/>
          <a:lstStyle/>
          <a:p>
            <a:pPr algn="ctr" indent="0" marL="0">
              <a:buNone/>
            </a:pPr>
            <a:r>
              <a:rPr lang="en-US" sz="1800" b="1" dirty="0">
                <a:solidFill>
                  <a:srgbClr val="0096FF"/>
                </a:solidFill>
                <a:latin typeface="Arial" pitchFamily="34" charset="0"/>
                <a:ea typeface="Arial" pitchFamily="34" charset="-122"/>
                <a:cs typeface="Arial" pitchFamily="34" charset="-120"/>
              </a:rPr>
              <a:t>Turf Booking &amp; Secure Verification Platform</a:t>
            </a:r>
            <a:endParaRPr lang="en-US" sz="1800" dirty="0"/>
          </a:p>
        </p:txBody>
      </p:sp>
      <p:sp>
        <p:nvSpPr>
          <p:cNvPr id="5" name="Text 3"/>
          <p:cNvSpPr/>
          <p:nvPr/>
        </p:nvSpPr>
        <p:spPr>
          <a:xfrm>
            <a:off x="1097280" y="3657600"/>
            <a:ext cx="10058400" cy="457200"/>
          </a:xfrm>
          <a:prstGeom prst="rect">
            <a:avLst/>
          </a:prstGeom>
          <a:noFill/>
          <a:ln/>
        </p:spPr>
        <p:txBody>
          <a:bodyPr wrap="square" rtlCol="0" anchor="ctr"/>
          <a:lstStyle/>
          <a:p>
            <a:pPr algn="ctr" indent="0" marL="0">
              <a:buNone/>
            </a:pPr>
            <a:r>
              <a:rPr lang="en-US" sz="1400" dirty="0">
                <a:solidFill>
                  <a:srgbClr val="F0F4F8"/>
                </a:solidFill>
                <a:latin typeface="Arial" pitchFamily="34" charset="0"/>
                <a:ea typeface="Arial" pitchFamily="34" charset="-122"/>
                <a:cs typeface="Arial" pitchFamily="34" charset="-120"/>
              </a:rPr>
              <a:t>Questions &amp; Answers</a:t>
            </a:r>
            <a:endParaRPr lang="en-US" sz="14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8</Slides>
  <Notes>8</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8</vt:i4>
      </vt:variant>
    </vt:vector>
  </HeadingPairs>
  <TitlesOfParts>
    <vt:vector size="11" baseType="lpstr">
      <vt:lpstr>Arial</vt:lpstr>
      <vt:lpstr>Calibri</vt:lpstr>
      <vt:lpstr>Office Theme</vt:lpstr>
      <vt:lpstr>Slide 1</vt:lpstr>
      <vt:lpstr>Slide 2</vt:lpstr>
      <vt:lpstr>Slide 3</vt:lpstr>
      <vt:lpstr>Slide 4</vt:lpstr>
      <vt:lpstr>Slide 5</vt:lpstr>
      <vt:lpstr>Slide 6</vt:lpstr>
      <vt:lpstr>Slide 7</vt:lpstr>
      <vt:lpstr>Slide 8</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PptxGenJS</cp:lastModifiedBy>
  <cp:revision>1</cp:revision>
  <dcterms:created xsi:type="dcterms:W3CDTF">2026-07-15T08:03:35Z</dcterms:created>
  <dcterms:modified xsi:type="dcterms:W3CDTF">2026-07-15T08:03:35Z</dcterms:modified>
</cp:coreProperties>
</file>